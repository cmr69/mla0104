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86"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7830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966960" y="-1188720"/>
            <a:ext cx="3657600" cy="3657600"/>
          </a:xfrm>
          <a:prstGeom prst="ellipse">
            <a:avLst/>
          </a:prstGeom>
          <a:solidFill>
            <a:srgbClr val="3E6D9C"/>
          </a:solidFill>
          <a:ln/>
        </p:spPr>
      </p:sp>
      <p:sp>
        <p:nvSpPr>
          <p:cNvPr id="3" name="Shape 1"/>
          <p:cNvSpPr/>
          <p:nvPr/>
        </p:nvSpPr>
        <p:spPr>
          <a:xfrm>
            <a:off x="-1371600" y="4754880"/>
            <a:ext cx="3200400" cy="3200400"/>
          </a:xfrm>
          <a:prstGeom prst="ellipse">
            <a:avLst/>
          </a:prstGeom>
          <a:solidFill>
            <a:srgbClr val="3E6D9C"/>
          </a:solidFill>
          <a:ln/>
        </p:spPr>
      </p:sp>
      <p:sp>
        <p:nvSpPr>
          <p:cNvPr id="4" name="Shape 2"/>
          <p:cNvSpPr/>
          <p:nvPr/>
        </p:nvSpPr>
        <p:spPr>
          <a:xfrm>
            <a:off x="5413248" y="1051560"/>
            <a:ext cx="1371600" cy="1371600"/>
          </a:xfrm>
          <a:prstGeom prst="ellipse">
            <a:avLst/>
          </a:prstGeom>
          <a:solidFill>
            <a:srgbClr val="FFB627"/>
          </a:solidFill>
          <a:ln/>
        </p:spPr>
      </p:sp>
      <p:pic>
        <p:nvPicPr>
          <p:cNvPr id="5" name="Image 0" descr="/home/claude/voltage_sensor/icon_bolt.png"/>
          <p:cNvPicPr>
            <a:picLocks noChangeAspect="1"/>
          </p:cNvPicPr>
          <p:nvPr/>
        </p:nvPicPr>
        <p:blipFill>
          <a:blip r:embed="rId3"/>
          <a:stretch>
            <a:fillRect/>
          </a:stretch>
        </p:blipFill>
        <p:spPr>
          <a:xfrm>
            <a:off x="5721858" y="1360170"/>
            <a:ext cx="754380" cy="754380"/>
          </a:xfrm>
          <a:prstGeom prst="rect">
            <a:avLst/>
          </a:prstGeom>
        </p:spPr>
      </p:pic>
      <p:sp>
        <p:nvSpPr>
          <p:cNvPr id="6" name="Text 3"/>
          <p:cNvSpPr/>
          <p:nvPr/>
        </p:nvSpPr>
        <p:spPr>
          <a:xfrm>
            <a:off x="457200" y="2743200"/>
            <a:ext cx="11274552" cy="1005840"/>
          </a:xfrm>
          <a:prstGeom prst="rect">
            <a:avLst/>
          </a:prstGeom>
          <a:noFill/>
          <a:ln/>
        </p:spPr>
        <p:txBody>
          <a:bodyPr wrap="square" rtlCol="0" anchor="ctr"/>
          <a:lstStyle/>
          <a:p>
            <a:pPr marL="0" indent="0" algn="ctr">
              <a:buNone/>
            </a:pPr>
            <a:r>
              <a:rPr lang="en-US" sz="4800" b="1" dirty="0">
                <a:solidFill>
                  <a:srgbClr val="FFFFFF"/>
                </a:solidFill>
                <a:latin typeface="Times New Roman" panose="02020603050405020304" pitchFamily="18" charset="0"/>
                <a:ea typeface="Cambria" pitchFamily="34" charset="-122"/>
                <a:cs typeface="Times New Roman" panose="02020603050405020304" pitchFamily="18" charset="0"/>
              </a:rPr>
              <a:t>VOLTAGE SENSOR</a:t>
            </a:r>
            <a:endParaRPr lang="en-US" sz="4800" dirty="0">
              <a:latin typeface="Times New Roman" panose="02020603050405020304" pitchFamily="18" charset="0"/>
              <a:cs typeface="Times New Roman" panose="02020603050405020304" pitchFamily="18" charset="0"/>
            </a:endParaRPr>
          </a:p>
        </p:txBody>
      </p:sp>
      <p:sp>
        <p:nvSpPr>
          <p:cNvPr id="7" name="Text 4"/>
          <p:cNvSpPr/>
          <p:nvPr/>
        </p:nvSpPr>
        <p:spPr>
          <a:xfrm>
            <a:off x="457200" y="3703320"/>
            <a:ext cx="11274552" cy="548640"/>
          </a:xfrm>
          <a:prstGeom prst="rect">
            <a:avLst/>
          </a:prstGeom>
          <a:noFill/>
          <a:ln/>
        </p:spPr>
        <p:txBody>
          <a:bodyPr wrap="square" rtlCol="0" anchor="ctr"/>
          <a:lstStyle/>
          <a:p>
            <a:pPr marL="0" indent="0" algn="ctr">
              <a:buNone/>
            </a:pPr>
            <a:r>
              <a:rPr lang="en-US" sz="2000" i="1" dirty="0">
                <a:solidFill>
                  <a:srgbClr val="FFB627"/>
                </a:solidFill>
                <a:latin typeface="Times New Roman" panose="02020603050405020304" pitchFamily="18" charset="0"/>
                <a:ea typeface="Calibri" pitchFamily="34" charset="-122"/>
                <a:cs typeface="Times New Roman" panose="02020603050405020304" pitchFamily="18" charset="0"/>
              </a:rPr>
              <a:t>Principles, Types &amp; Real-World Applications</a:t>
            </a:r>
            <a:endParaRPr lang="en-US" sz="2000" dirty="0">
              <a:latin typeface="Times New Roman" panose="02020603050405020304" pitchFamily="18" charset="0"/>
              <a:cs typeface="Times New Roman" panose="02020603050405020304" pitchFamily="18" charset="0"/>
            </a:endParaRPr>
          </a:p>
        </p:txBody>
      </p:sp>
      <p:sp>
        <p:nvSpPr>
          <p:cNvPr id="8" name="Text 5"/>
          <p:cNvSpPr/>
          <p:nvPr/>
        </p:nvSpPr>
        <p:spPr>
          <a:xfrm>
            <a:off x="457200" y="6035040"/>
            <a:ext cx="11274552" cy="365760"/>
          </a:xfrm>
          <a:prstGeom prst="rect">
            <a:avLst/>
          </a:prstGeom>
          <a:noFill/>
          <a:ln/>
        </p:spPr>
        <p:txBody>
          <a:bodyPr wrap="square" rtlCol="0" anchor="ctr"/>
          <a:lstStyle/>
          <a:p>
            <a:pPr marL="0" indent="0" algn="ctr">
              <a:buNone/>
            </a:pPr>
            <a:r>
              <a:rPr lang="en-US" sz="1200" dirty="0">
                <a:solidFill>
                  <a:srgbClr val="8FA3BF"/>
                </a:solidFill>
                <a:latin typeface="Times New Roman" panose="02020603050405020304" pitchFamily="18" charset="0"/>
                <a:ea typeface="Calibri" pitchFamily="34" charset="-122"/>
                <a:cs typeface="Times New Roman" panose="02020603050405020304" pitchFamily="18" charset="0"/>
              </a:rPr>
              <a:t>An Introduction to Electrical Voltage Sensing Technology</a:t>
            </a:r>
            <a:endParaRPr lang="en-US" sz="12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E001D3A-069A-BBC5-DD1D-314F455419F5}"/>
              </a:ext>
            </a:extLst>
          </p:cNvPr>
          <p:cNvSpPr txBox="1"/>
          <p:nvPr/>
        </p:nvSpPr>
        <p:spPr>
          <a:xfrm>
            <a:off x="9298281" y="5388709"/>
            <a:ext cx="2597699" cy="646331"/>
          </a:xfrm>
          <a:prstGeom prst="rect">
            <a:avLst/>
          </a:prstGeom>
          <a:noFill/>
        </p:spPr>
        <p:txBody>
          <a:bodyPr wrap="none" rtlCol="0">
            <a:spAutoFit/>
          </a:bodyPr>
          <a:lstStyle/>
          <a:p>
            <a:r>
              <a:rPr lang="en-US" dirty="0" err="1">
                <a:solidFill>
                  <a:schemeClr val="bg1"/>
                </a:solidFill>
                <a:latin typeface="Times New Roman" panose="02020603050405020304" pitchFamily="18" charset="0"/>
                <a:cs typeface="Times New Roman" panose="02020603050405020304" pitchFamily="18" charset="0"/>
              </a:rPr>
              <a:t>T.Chandra</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Mouleswar</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rao</a:t>
            </a:r>
            <a:endParaRPr lang="en-US"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192425306</a:t>
            </a:r>
            <a:endParaRPr lang="en-IN"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3200" b="1" dirty="0">
                <a:solidFill>
                  <a:srgbClr val="1B2A4A"/>
                </a:solidFill>
                <a:latin typeface="Times New Roman" panose="02020603050405020304" pitchFamily="18" charset="0"/>
                <a:ea typeface="Cambria" pitchFamily="34" charset="-122"/>
                <a:cs typeface="Times New Roman" panose="02020603050405020304" pitchFamily="18" charset="0"/>
              </a:rPr>
              <a:t>What Is a Voltage Sensor?</a:t>
            </a:r>
            <a:endParaRPr lang="en-US" sz="3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1371600"/>
            <a:ext cx="6035040" cy="4389120"/>
          </a:xfrm>
          <a:prstGeom prst="rect">
            <a:avLst/>
          </a:prstGeom>
          <a:noFill/>
          <a:ln/>
        </p:spPr>
        <p:txBody>
          <a:bodyPr wrap="square" rtlCol="0" anchor="t"/>
          <a:lstStyle/>
          <a:p>
            <a:pPr marL="0" indent="0">
              <a:lnSpc>
                <a:spcPct val="115000"/>
              </a:lnSpc>
              <a:spcAft>
                <a:spcPts val="1400"/>
              </a:spcAft>
              <a:buNone/>
            </a:pPr>
            <a:r>
              <a:rPr lang="en-US" sz="1500" dirty="0">
                <a:solidFill>
                  <a:srgbClr val="1B2A4A"/>
                </a:solidFill>
                <a:latin typeface="Times New Roman" panose="02020603050405020304" pitchFamily="18" charset="0"/>
                <a:ea typeface="Calibri" pitchFamily="34" charset="-122"/>
                <a:cs typeface="Times New Roman" panose="02020603050405020304" pitchFamily="18" charset="0"/>
              </a:rPr>
              <a:t>A voltage sensor is a device that measures and monitors the voltage of a circuit, then converts it into a proportional, usable output signal.</a:t>
            </a:r>
            <a:endParaRPr lang="en-US" sz="1500" dirty="0">
              <a:latin typeface="Times New Roman" panose="02020603050405020304" pitchFamily="18" charset="0"/>
              <a:cs typeface="Times New Roman" panose="02020603050405020304" pitchFamily="18" charset="0"/>
            </a:endParaRPr>
          </a:p>
          <a:p>
            <a:pPr marL="0" indent="0">
              <a:lnSpc>
                <a:spcPct val="115000"/>
              </a:lnSpc>
              <a:spcAft>
                <a:spcPts val="1400"/>
              </a:spcAft>
              <a:buNone/>
            </a:pPr>
            <a:r>
              <a:rPr lang="en-US" sz="1500" dirty="0">
                <a:solidFill>
                  <a:srgbClr val="1B2A4A"/>
                </a:solidFill>
                <a:latin typeface="Times New Roman" panose="02020603050405020304" pitchFamily="18" charset="0"/>
                <a:ea typeface="Calibri" pitchFamily="34" charset="-122"/>
                <a:cs typeface="Times New Roman" panose="02020603050405020304" pitchFamily="18" charset="0"/>
              </a:rPr>
              <a:t>This output — typically a scaled-down analog voltage, current, or digital value — can be safely read by a microcontroller, meter, or monitoring system.</a:t>
            </a:r>
            <a:endParaRPr lang="en-US" sz="1500" dirty="0">
              <a:latin typeface="Times New Roman" panose="02020603050405020304" pitchFamily="18" charset="0"/>
              <a:cs typeface="Times New Roman" panose="02020603050405020304" pitchFamily="18" charset="0"/>
            </a:endParaRPr>
          </a:p>
          <a:p>
            <a:pPr marL="0" indent="0">
              <a:lnSpc>
                <a:spcPct val="115000"/>
              </a:lnSpc>
              <a:buNone/>
            </a:pPr>
            <a:r>
              <a:rPr lang="en-US" sz="1500" dirty="0">
                <a:solidFill>
                  <a:srgbClr val="1B2A4A"/>
                </a:solidFill>
                <a:latin typeface="Times New Roman" panose="02020603050405020304" pitchFamily="18" charset="0"/>
                <a:ea typeface="Calibri" pitchFamily="34" charset="-122"/>
                <a:cs typeface="Times New Roman" panose="02020603050405020304" pitchFamily="18" charset="0"/>
              </a:rPr>
              <a:t>Voltage sensors allow safe measurement of both small and dangerously high voltages without direct physical contact with the main circuit.</a:t>
            </a:r>
            <a:endParaRPr lang="en-US" sz="1500" dirty="0">
              <a:latin typeface="Times New Roman" panose="02020603050405020304" pitchFamily="18" charset="0"/>
              <a:cs typeface="Times New Roman" panose="02020603050405020304" pitchFamily="18" charset="0"/>
            </a:endParaRPr>
          </a:p>
        </p:txBody>
      </p:sp>
      <p:sp>
        <p:nvSpPr>
          <p:cNvPr id="4" name="Shape 2"/>
          <p:cNvSpPr/>
          <p:nvPr/>
        </p:nvSpPr>
        <p:spPr>
          <a:xfrm>
            <a:off x="7040880" y="1371600"/>
            <a:ext cx="4572000" cy="4389120"/>
          </a:xfrm>
          <a:prstGeom prst="roundRect">
            <a:avLst>
              <a:gd name="adj" fmla="val 2500"/>
            </a:avLst>
          </a:prstGeom>
          <a:solidFill>
            <a:srgbClr val="F7F9FC"/>
          </a:solidFill>
          <a:ln/>
          <a:effectLst>
            <a:outerShdw blurRad="101600" dist="38100" dir="5400000" algn="bl" rotWithShape="0">
              <a:srgbClr val="1B2A4A">
                <a:alpha val="15000"/>
              </a:srgbClr>
            </a:outerShdw>
          </a:effectLst>
        </p:spPr>
      </p:sp>
      <p:sp>
        <p:nvSpPr>
          <p:cNvPr id="5" name="Shape 3"/>
          <p:cNvSpPr/>
          <p:nvPr/>
        </p:nvSpPr>
        <p:spPr>
          <a:xfrm>
            <a:off x="7680960" y="1783080"/>
            <a:ext cx="3291840" cy="777240"/>
          </a:xfrm>
          <a:prstGeom prst="roundRect">
            <a:avLst>
              <a:gd name="adj" fmla="val 9412"/>
            </a:avLst>
          </a:prstGeom>
          <a:solidFill>
            <a:srgbClr val="FFFFFF"/>
          </a:solidFill>
          <a:ln w="15875">
            <a:solidFill>
              <a:srgbClr val="3E6D9C"/>
            </a:solidFill>
            <a:prstDash val="solid"/>
          </a:ln>
        </p:spPr>
      </p:sp>
      <p:sp>
        <p:nvSpPr>
          <p:cNvPr id="6" name="Text 4"/>
          <p:cNvSpPr/>
          <p:nvPr/>
        </p:nvSpPr>
        <p:spPr>
          <a:xfrm>
            <a:off x="7680960" y="1783080"/>
            <a:ext cx="3291840" cy="777240"/>
          </a:xfrm>
          <a:prstGeom prst="rect">
            <a:avLst/>
          </a:prstGeom>
          <a:noFill/>
          <a:ln/>
        </p:spPr>
        <p:txBody>
          <a:bodyPr wrap="square" rtlCol="0" anchor="ctr"/>
          <a:lstStyle/>
          <a:p>
            <a:pPr marL="0" indent="0" algn="ctr">
              <a:buNone/>
            </a:pPr>
            <a:r>
              <a:rPr lang="en-US" sz="1300" dirty="0">
                <a:solidFill>
                  <a:srgbClr val="1B2A4A"/>
                </a:solidFill>
                <a:latin typeface="Times New Roman" panose="02020603050405020304" pitchFamily="18" charset="0"/>
                <a:ea typeface="Calibri" pitchFamily="34" charset="-122"/>
                <a:cs typeface="Times New Roman" panose="02020603050405020304" pitchFamily="18" charset="0"/>
              </a:rPr>
              <a:t>High Voltage Input</a:t>
            </a:r>
            <a:endParaRPr lang="en-US" sz="1300" dirty="0">
              <a:latin typeface="Times New Roman" panose="02020603050405020304" pitchFamily="18" charset="0"/>
              <a:cs typeface="Times New Roman" panose="02020603050405020304" pitchFamily="18" charset="0"/>
            </a:endParaRPr>
          </a:p>
        </p:txBody>
      </p:sp>
      <p:sp>
        <p:nvSpPr>
          <p:cNvPr id="7" name="Text 5"/>
          <p:cNvSpPr/>
          <p:nvPr/>
        </p:nvSpPr>
        <p:spPr>
          <a:xfrm>
            <a:off x="7680960" y="2587752"/>
            <a:ext cx="3291840" cy="365760"/>
          </a:xfrm>
          <a:prstGeom prst="rect">
            <a:avLst/>
          </a:prstGeom>
          <a:noFill/>
          <a:ln/>
        </p:spPr>
        <p:txBody>
          <a:bodyPr wrap="square" rtlCol="0" anchor="ctr"/>
          <a:lstStyle/>
          <a:p>
            <a:pPr marL="0" indent="0" algn="ctr">
              <a:buNone/>
            </a:pPr>
            <a:r>
              <a:rPr lang="en-US" sz="1800" b="1" dirty="0">
                <a:solidFill>
                  <a:srgbClr val="FFB627"/>
                </a:solidFill>
                <a:latin typeface="Times New Roman" panose="02020603050405020304" pitchFamily="18" charset="0"/>
                <a:ea typeface="Calibri" pitchFamily="34" charset="-122"/>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8" name="Shape 6"/>
          <p:cNvSpPr/>
          <p:nvPr/>
        </p:nvSpPr>
        <p:spPr>
          <a:xfrm>
            <a:off x="7680960" y="3063240"/>
            <a:ext cx="3291840" cy="777240"/>
          </a:xfrm>
          <a:prstGeom prst="roundRect">
            <a:avLst>
              <a:gd name="adj" fmla="val 9412"/>
            </a:avLst>
          </a:prstGeom>
          <a:solidFill>
            <a:srgbClr val="3E6D9C"/>
          </a:solidFill>
          <a:ln w="15875">
            <a:solidFill>
              <a:srgbClr val="3E6D9C"/>
            </a:solidFill>
            <a:prstDash val="solid"/>
          </a:ln>
        </p:spPr>
      </p:sp>
      <p:sp>
        <p:nvSpPr>
          <p:cNvPr id="9" name="Text 7"/>
          <p:cNvSpPr/>
          <p:nvPr/>
        </p:nvSpPr>
        <p:spPr>
          <a:xfrm>
            <a:off x="7680960" y="3063240"/>
            <a:ext cx="3291840" cy="777240"/>
          </a:xfrm>
          <a:prstGeom prst="rect">
            <a:avLst/>
          </a:prstGeom>
          <a:noFill/>
          <a:ln/>
        </p:spPr>
        <p:txBody>
          <a:bodyPr wrap="square" rtlCol="0" anchor="ctr"/>
          <a:lstStyle/>
          <a:p>
            <a:pPr marL="0" indent="0" algn="ct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Voltage Sensor</a:t>
            </a:r>
            <a:endParaRPr lang="en-US" sz="1300" dirty="0">
              <a:latin typeface="Times New Roman" panose="02020603050405020304" pitchFamily="18" charset="0"/>
              <a:cs typeface="Times New Roman" panose="02020603050405020304" pitchFamily="18" charset="0"/>
            </a:endParaRPr>
          </a:p>
        </p:txBody>
      </p:sp>
      <p:sp>
        <p:nvSpPr>
          <p:cNvPr id="10" name="Text 8"/>
          <p:cNvSpPr/>
          <p:nvPr/>
        </p:nvSpPr>
        <p:spPr>
          <a:xfrm>
            <a:off x="7680960" y="3867912"/>
            <a:ext cx="3291840" cy="365760"/>
          </a:xfrm>
          <a:prstGeom prst="rect">
            <a:avLst/>
          </a:prstGeom>
          <a:noFill/>
          <a:ln/>
        </p:spPr>
        <p:txBody>
          <a:bodyPr wrap="square" rtlCol="0" anchor="ctr"/>
          <a:lstStyle/>
          <a:p>
            <a:pPr marL="0" indent="0" algn="ctr">
              <a:buNone/>
            </a:pPr>
            <a:r>
              <a:rPr lang="en-US" sz="1800" b="1" dirty="0">
                <a:solidFill>
                  <a:srgbClr val="FFB627"/>
                </a:solidFill>
                <a:latin typeface="Times New Roman" panose="02020603050405020304" pitchFamily="18" charset="0"/>
                <a:ea typeface="Calibri" pitchFamily="34" charset="-122"/>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11" name="Shape 9"/>
          <p:cNvSpPr/>
          <p:nvPr/>
        </p:nvSpPr>
        <p:spPr>
          <a:xfrm>
            <a:off x="7680960" y="4343400"/>
            <a:ext cx="3291840" cy="777240"/>
          </a:xfrm>
          <a:prstGeom prst="roundRect">
            <a:avLst>
              <a:gd name="adj" fmla="val 9412"/>
            </a:avLst>
          </a:prstGeom>
          <a:solidFill>
            <a:srgbClr val="FFFFFF"/>
          </a:solidFill>
          <a:ln w="15875">
            <a:solidFill>
              <a:srgbClr val="3E6D9C"/>
            </a:solidFill>
            <a:prstDash val="solid"/>
          </a:ln>
        </p:spPr>
      </p:sp>
      <p:sp>
        <p:nvSpPr>
          <p:cNvPr id="12" name="Text 10"/>
          <p:cNvSpPr/>
          <p:nvPr/>
        </p:nvSpPr>
        <p:spPr>
          <a:xfrm>
            <a:off x="7680960" y="4343400"/>
            <a:ext cx="3291840" cy="777240"/>
          </a:xfrm>
          <a:prstGeom prst="rect">
            <a:avLst/>
          </a:prstGeom>
          <a:noFill/>
          <a:ln/>
        </p:spPr>
        <p:txBody>
          <a:bodyPr wrap="square" rtlCol="0" anchor="ctr"/>
          <a:lstStyle/>
          <a:p>
            <a:pPr marL="0" indent="0" algn="ctr">
              <a:buNone/>
            </a:pPr>
            <a:r>
              <a:rPr lang="en-US" sz="1300" dirty="0">
                <a:solidFill>
                  <a:srgbClr val="1B2A4A"/>
                </a:solidFill>
                <a:latin typeface="Times New Roman" panose="02020603050405020304" pitchFamily="18" charset="0"/>
                <a:ea typeface="Calibri" pitchFamily="34" charset="-122"/>
                <a:cs typeface="Times New Roman" panose="02020603050405020304" pitchFamily="18" charset="0"/>
              </a:rPr>
              <a:t>Scaled Output Signal</a:t>
            </a:r>
            <a:endParaRPr lang="en-US" sz="1300" dirty="0">
              <a:latin typeface="Times New Roman" panose="02020603050405020304" pitchFamily="18" charset="0"/>
              <a:cs typeface="Times New Roman" panose="02020603050405020304" pitchFamily="18" charset="0"/>
            </a:endParaRPr>
          </a:p>
        </p:txBody>
      </p:sp>
      <p:sp>
        <p:nvSpPr>
          <p:cNvPr id="13" name="Text 11"/>
          <p:cNvSpPr/>
          <p:nvPr/>
        </p:nvSpPr>
        <p:spPr>
          <a:xfrm>
            <a:off x="457200" y="6537960"/>
            <a:ext cx="3657600" cy="274320"/>
          </a:xfrm>
          <a:prstGeom prst="rect">
            <a:avLst/>
          </a:prstGeom>
          <a:noFill/>
          <a:ln/>
        </p:spPr>
        <p:txBody>
          <a:bodyPr wrap="square" rtlCol="0" anchor="ctr"/>
          <a:lstStyle/>
          <a:p>
            <a:pPr marL="0" indent="0">
              <a:buNone/>
            </a:pPr>
            <a:r>
              <a:rPr lang="en-US" sz="900" i="1" dirty="0">
                <a:solidFill>
                  <a:srgbClr val="A9B4C2"/>
                </a:solidFill>
                <a:latin typeface="Times New Roman" panose="02020603050405020304" pitchFamily="18" charset="0"/>
                <a:ea typeface="Calibri" pitchFamily="34" charset="-122"/>
                <a:cs typeface="Times New Roman" panose="02020603050405020304" pitchFamily="18" charset="0"/>
              </a:rPr>
              <a:t>VOLTAGE SENSOR</a:t>
            </a:r>
            <a:endParaRPr lang="en-US" sz="900" dirty="0">
              <a:latin typeface="Times New Roman" panose="02020603050405020304" pitchFamily="18" charset="0"/>
              <a:cs typeface="Times New Roman" panose="02020603050405020304" pitchFamily="18" charset="0"/>
            </a:endParaRPr>
          </a:p>
        </p:txBody>
      </p:sp>
      <p:sp>
        <p:nvSpPr>
          <p:cNvPr id="14" name="Text 12"/>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A9B4C2"/>
                </a:solidFill>
                <a:latin typeface="Times New Roman" panose="02020603050405020304" pitchFamily="18" charset="0"/>
                <a:ea typeface="Calibri" pitchFamily="34" charset="-122"/>
                <a:cs typeface="Times New Roman" panose="02020603050405020304" pitchFamily="18" charset="0"/>
              </a:rPr>
              <a:t>2</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3200" b="1" dirty="0">
                <a:solidFill>
                  <a:srgbClr val="1B2A4A"/>
                </a:solidFill>
                <a:latin typeface="Times New Roman" panose="02020603050405020304" pitchFamily="18" charset="0"/>
                <a:ea typeface="Cambria" pitchFamily="34" charset="-122"/>
                <a:cs typeface="Times New Roman" panose="02020603050405020304" pitchFamily="18" charset="0"/>
              </a:rPr>
              <a:t>Why Voltage Sensing Matters</a:t>
            </a:r>
            <a:endParaRPr lang="en-US" sz="3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1097280"/>
            <a:ext cx="10972800" cy="457200"/>
          </a:xfrm>
          <a:prstGeom prst="rect">
            <a:avLst/>
          </a:prstGeom>
          <a:noFill/>
          <a:ln/>
        </p:spPr>
        <p:txBody>
          <a:bodyPr wrap="square" rtlCol="0" anchor="ctr"/>
          <a:lstStyle/>
          <a:p>
            <a:pPr marL="0" indent="0">
              <a:buNone/>
            </a:pPr>
            <a:r>
              <a:rPr lang="en-US" sz="1400" i="1" dirty="0">
                <a:solidFill>
                  <a:srgbClr val="5C6B7A"/>
                </a:solidFill>
                <a:latin typeface="Times New Roman" panose="02020603050405020304" pitchFamily="18" charset="0"/>
                <a:ea typeface="Calibri" pitchFamily="34" charset="-122"/>
                <a:cs typeface="Times New Roman" panose="02020603050405020304" pitchFamily="18" charset="0"/>
              </a:rPr>
              <a:t>Voltage sensors form the foundation of safe, efficient, and intelligent electrical systems.</a:t>
            </a:r>
            <a:endParaRPr lang="en-US" sz="1400" dirty="0">
              <a:latin typeface="Times New Roman" panose="02020603050405020304" pitchFamily="18" charset="0"/>
              <a:cs typeface="Times New Roman" panose="02020603050405020304" pitchFamily="18" charset="0"/>
            </a:endParaRPr>
          </a:p>
        </p:txBody>
      </p:sp>
      <p:sp>
        <p:nvSpPr>
          <p:cNvPr id="4" name="Shape 2"/>
          <p:cNvSpPr/>
          <p:nvPr/>
        </p:nvSpPr>
        <p:spPr>
          <a:xfrm>
            <a:off x="548640" y="1965960"/>
            <a:ext cx="5349240" cy="1965960"/>
          </a:xfrm>
          <a:prstGeom prst="roundRect">
            <a:avLst>
              <a:gd name="adj" fmla="val 4651"/>
            </a:avLst>
          </a:prstGeom>
          <a:solidFill>
            <a:srgbClr val="F7F9FC"/>
          </a:solidFill>
          <a:ln/>
        </p:spPr>
      </p:sp>
      <p:sp>
        <p:nvSpPr>
          <p:cNvPr id="5" name="Shape 3"/>
          <p:cNvSpPr/>
          <p:nvPr/>
        </p:nvSpPr>
        <p:spPr>
          <a:xfrm>
            <a:off x="822960" y="2286000"/>
            <a:ext cx="777240" cy="777240"/>
          </a:xfrm>
          <a:prstGeom prst="ellipse">
            <a:avLst/>
          </a:prstGeom>
          <a:solidFill>
            <a:srgbClr val="3E6D9C"/>
          </a:solidFill>
          <a:ln/>
        </p:spPr>
      </p:sp>
      <p:pic>
        <p:nvPicPr>
          <p:cNvPr id="6" name="Image 0" descr="/home/claude/voltage_sensor/icon_search.png"/>
          <p:cNvPicPr>
            <a:picLocks noChangeAspect="1"/>
          </p:cNvPicPr>
          <p:nvPr/>
        </p:nvPicPr>
        <p:blipFill>
          <a:blip r:embed="rId3"/>
          <a:stretch>
            <a:fillRect/>
          </a:stretch>
        </p:blipFill>
        <p:spPr>
          <a:xfrm>
            <a:off x="1017270" y="2480310"/>
            <a:ext cx="388620" cy="388620"/>
          </a:xfrm>
          <a:prstGeom prst="rect">
            <a:avLst/>
          </a:prstGeom>
        </p:spPr>
      </p:pic>
      <p:sp>
        <p:nvSpPr>
          <p:cNvPr id="7" name="Text 4"/>
          <p:cNvSpPr/>
          <p:nvPr/>
        </p:nvSpPr>
        <p:spPr>
          <a:xfrm>
            <a:off x="1828800" y="2240280"/>
            <a:ext cx="3794760" cy="411480"/>
          </a:xfrm>
          <a:prstGeom prst="rect">
            <a:avLst/>
          </a:prstGeom>
          <a:noFill/>
          <a:ln/>
        </p:spPr>
        <p:txBody>
          <a:bodyPr wrap="square" rtlCol="0" anchor="ctr"/>
          <a:lstStyle/>
          <a:p>
            <a:pPr marL="0" indent="0">
              <a:buNone/>
            </a:pPr>
            <a:r>
              <a:rPr lang="en-US" sz="1700" b="1" dirty="0">
                <a:solidFill>
                  <a:srgbClr val="1B2A4A"/>
                </a:solidFill>
                <a:latin typeface="Times New Roman" panose="02020603050405020304" pitchFamily="18" charset="0"/>
                <a:ea typeface="Calibri" pitchFamily="34" charset="-122"/>
                <a:cs typeface="Times New Roman" panose="02020603050405020304" pitchFamily="18" charset="0"/>
              </a:rPr>
              <a:t>Monitoring</a:t>
            </a:r>
            <a:endParaRPr lang="en-US" sz="1700" dirty="0">
              <a:latin typeface="Times New Roman" panose="02020603050405020304" pitchFamily="18" charset="0"/>
              <a:cs typeface="Times New Roman" panose="02020603050405020304" pitchFamily="18" charset="0"/>
            </a:endParaRPr>
          </a:p>
        </p:txBody>
      </p:sp>
      <p:sp>
        <p:nvSpPr>
          <p:cNvPr id="8" name="Text 5"/>
          <p:cNvSpPr/>
          <p:nvPr/>
        </p:nvSpPr>
        <p:spPr>
          <a:xfrm>
            <a:off x="1828800" y="2679192"/>
            <a:ext cx="3794760" cy="1051560"/>
          </a:xfrm>
          <a:prstGeom prst="rect">
            <a:avLst/>
          </a:prstGeom>
          <a:noFill/>
          <a:ln/>
        </p:spPr>
        <p:txBody>
          <a:bodyPr wrap="square" rtlCol="0" anchor="t"/>
          <a:lstStyle/>
          <a:p>
            <a:pPr marL="0" indent="0">
              <a:lnSpc>
                <a:spcPct val="115000"/>
              </a:lnSpc>
              <a:buNone/>
            </a:pPr>
            <a:r>
              <a:rPr lang="en-US" sz="1250" dirty="0">
                <a:solidFill>
                  <a:srgbClr val="5C6B7A"/>
                </a:solidFill>
                <a:latin typeface="Times New Roman" panose="02020603050405020304" pitchFamily="18" charset="0"/>
                <a:ea typeface="Calibri" pitchFamily="34" charset="-122"/>
                <a:cs typeface="Times New Roman" panose="02020603050405020304" pitchFamily="18" charset="0"/>
              </a:rPr>
              <a:t>Continuously track voltage levels across power lines, batteries, and equipment in real time.</a:t>
            </a:r>
            <a:endParaRPr lang="en-US" sz="1250" dirty="0">
              <a:latin typeface="Times New Roman" panose="02020603050405020304" pitchFamily="18" charset="0"/>
              <a:cs typeface="Times New Roman" panose="02020603050405020304" pitchFamily="18" charset="0"/>
            </a:endParaRPr>
          </a:p>
        </p:txBody>
      </p:sp>
      <p:sp>
        <p:nvSpPr>
          <p:cNvPr id="9" name="Shape 6"/>
          <p:cNvSpPr/>
          <p:nvPr/>
        </p:nvSpPr>
        <p:spPr>
          <a:xfrm>
            <a:off x="6355080" y="1965960"/>
            <a:ext cx="5349240" cy="1965960"/>
          </a:xfrm>
          <a:prstGeom prst="roundRect">
            <a:avLst>
              <a:gd name="adj" fmla="val 4651"/>
            </a:avLst>
          </a:prstGeom>
          <a:solidFill>
            <a:srgbClr val="F7F9FC"/>
          </a:solidFill>
          <a:ln/>
        </p:spPr>
      </p:sp>
      <p:sp>
        <p:nvSpPr>
          <p:cNvPr id="10" name="Shape 7"/>
          <p:cNvSpPr/>
          <p:nvPr/>
        </p:nvSpPr>
        <p:spPr>
          <a:xfrm>
            <a:off x="6629400" y="2286000"/>
            <a:ext cx="777240" cy="777240"/>
          </a:xfrm>
          <a:prstGeom prst="ellipse">
            <a:avLst/>
          </a:prstGeom>
          <a:solidFill>
            <a:srgbClr val="3E6D9C"/>
          </a:solidFill>
          <a:ln/>
        </p:spPr>
      </p:sp>
      <p:pic>
        <p:nvPicPr>
          <p:cNvPr id="11" name="Image 1" descr="/home/claude/voltage_sensor/icon_shield.png"/>
          <p:cNvPicPr>
            <a:picLocks noChangeAspect="1"/>
          </p:cNvPicPr>
          <p:nvPr/>
        </p:nvPicPr>
        <p:blipFill>
          <a:blip r:embed="rId4"/>
          <a:stretch>
            <a:fillRect/>
          </a:stretch>
        </p:blipFill>
        <p:spPr>
          <a:xfrm>
            <a:off x="6823710" y="2480310"/>
            <a:ext cx="388620" cy="388620"/>
          </a:xfrm>
          <a:prstGeom prst="rect">
            <a:avLst/>
          </a:prstGeom>
        </p:spPr>
      </p:pic>
      <p:sp>
        <p:nvSpPr>
          <p:cNvPr id="12" name="Text 8"/>
          <p:cNvSpPr/>
          <p:nvPr/>
        </p:nvSpPr>
        <p:spPr>
          <a:xfrm>
            <a:off x="7635240" y="2240280"/>
            <a:ext cx="3794760" cy="411480"/>
          </a:xfrm>
          <a:prstGeom prst="rect">
            <a:avLst/>
          </a:prstGeom>
          <a:noFill/>
          <a:ln/>
        </p:spPr>
        <p:txBody>
          <a:bodyPr wrap="square" rtlCol="0" anchor="ctr"/>
          <a:lstStyle/>
          <a:p>
            <a:pPr marL="0" indent="0">
              <a:buNone/>
            </a:pPr>
            <a:r>
              <a:rPr lang="en-US" sz="1700" b="1" dirty="0">
                <a:solidFill>
                  <a:srgbClr val="1B2A4A"/>
                </a:solidFill>
                <a:latin typeface="Times New Roman" panose="02020603050405020304" pitchFamily="18" charset="0"/>
                <a:ea typeface="Calibri" pitchFamily="34" charset="-122"/>
                <a:cs typeface="Times New Roman" panose="02020603050405020304" pitchFamily="18" charset="0"/>
              </a:rPr>
              <a:t>Protection</a:t>
            </a:r>
            <a:endParaRPr lang="en-US" sz="1700" dirty="0">
              <a:latin typeface="Times New Roman" panose="02020603050405020304" pitchFamily="18" charset="0"/>
              <a:cs typeface="Times New Roman" panose="02020603050405020304" pitchFamily="18" charset="0"/>
            </a:endParaRPr>
          </a:p>
        </p:txBody>
      </p:sp>
      <p:sp>
        <p:nvSpPr>
          <p:cNvPr id="13" name="Text 9"/>
          <p:cNvSpPr/>
          <p:nvPr/>
        </p:nvSpPr>
        <p:spPr>
          <a:xfrm>
            <a:off x="7635240" y="2679192"/>
            <a:ext cx="3794760" cy="1051560"/>
          </a:xfrm>
          <a:prstGeom prst="rect">
            <a:avLst/>
          </a:prstGeom>
          <a:noFill/>
          <a:ln/>
        </p:spPr>
        <p:txBody>
          <a:bodyPr wrap="square" rtlCol="0" anchor="t"/>
          <a:lstStyle/>
          <a:p>
            <a:pPr marL="0" indent="0">
              <a:lnSpc>
                <a:spcPct val="115000"/>
              </a:lnSpc>
              <a:buNone/>
            </a:pPr>
            <a:r>
              <a:rPr lang="en-US" sz="1250" dirty="0">
                <a:solidFill>
                  <a:srgbClr val="5C6B7A"/>
                </a:solidFill>
                <a:latin typeface="Times New Roman" panose="02020603050405020304" pitchFamily="18" charset="0"/>
                <a:ea typeface="Calibri" pitchFamily="34" charset="-122"/>
                <a:cs typeface="Times New Roman" panose="02020603050405020304" pitchFamily="18" charset="0"/>
              </a:rPr>
              <a:t>Detect over-voltage or under-voltage conditions early to prevent equipment damage.</a:t>
            </a:r>
            <a:endParaRPr lang="en-US" sz="1250" dirty="0">
              <a:latin typeface="Times New Roman" panose="02020603050405020304" pitchFamily="18" charset="0"/>
              <a:cs typeface="Times New Roman" panose="02020603050405020304" pitchFamily="18" charset="0"/>
            </a:endParaRPr>
          </a:p>
        </p:txBody>
      </p:sp>
      <p:sp>
        <p:nvSpPr>
          <p:cNvPr id="14" name="Shape 10"/>
          <p:cNvSpPr/>
          <p:nvPr/>
        </p:nvSpPr>
        <p:spPr>
          <a:xfrm>
            <a:off x="548640" y="4251960"/>
            <a:ext cx="5349240" cy="1965960"/>
          </a:xfrm>
          <a:prstGeom prst="roundRect">
            <a:avLst>
              <a:gd name="adj" fmla="val 4651"/>
            </a:avLst>
          </a:prstGeom>
          <a:solidFill>
            <a:srgbClr val="F7F9FC"/>
          </a:solidFill>
          <a:ln/>
        </p:spPr>
      </p:sp>
      <p:sp>
        <p:nvSpPr>
          <p:cNvPr id="15" name="Shape 11"/>
          <p:cNvSpPr/>
          <p:nvPr/>
        </p:nvSpPr>
        <p:spPr>
          <a:xfrm>
            <a:off x="822960" y="4572000"/>
            <a:ext cx="777240" cy="777240"/>
          </a:xfrm>
          <a:prstGeom prst="ellipse">
            <a:avLst/>
          </a:prstGeom>
          <a:solidFill>
            <a:srgbClr val="3E6D9C"/>
          </a:solidFill>
          <a:ln/>
        </p:spPr>
      </p:sp>
      <p:pic>
        <p:nvPicPr>
          <p:cNvPr id="16" name="Image 2" descr="/home/claude/voltage_sensor/icon_cogs.png"/>
          <p:cNvPicPr>
            <a:picLocks noChangeAspect="1"/>
          </p:cNvPicPr>
          <p:nvPr/>
        </p:nvPicPr>
        <p:blipFill>
          <a:blip r:embed="rId5"/>
          <a:stretch>
            <a:fillRect/>
          </a:stretch>
        </p:blipFill>
        <p:spPr>
          <a:xfrm>
            <a:off x="1017270" y="4766310"/>
            <a:ext cx="388620" cy="388620"/>
          </a:xfrm>
          <a:prstGeom prst="rect">
            <a:avLst/>
          </a:prstGeom>
        </p:spPr>
      </p:pic>
      <p:sp>
        <p:nvSpPr>
          <p:cNvPr id="17" name="Text 12"/>
          <p:cNvSpPr/>
          <p:nvPr/>
        </p:nvSpPr>
        <p:spPr>
          <a:xfrm>
            <a:off x="1828800" y="4526280"/>
            <a:ext cx="3794760" cy="411480"/>
          </a:xfrm>
          <a:prstGeom prst="rect">
            <a:avLst/>
          </a:prstGeom>
          <a:noFill/>
          <a:ln/>
        </p:spPr>
        <p:txBody>
          <a:bodyPr wrap="square" rtlCol="0" anchor="ctr"/>
          <a:lstStyle/>
          <a:p>
            <a:pPr marL="0" indent="0">
              <a:buNone/>
            </a:pPr>
            <a:r>
              <a:rPr lang="en-US" sz="1700" b="1" dirty="0">
                <a:solidFill>
                  <a:srgbClr val="1B2A4A"/>
                </a:solidFill>
                <a:latin typeface="Times New Roman" panose="02020603050405020304" pitchFamily="18" charset="0"/>
                <a:ea typeface="Calibri" pitchFamily="34" charset="-122"/>
                <a:cs typeface="Times New Roman" panose="02020603050405020304" pitchFamily="18" charset="0"/>
              </a:rPr>
              <a:t>Control</a:t>
            </a:r>
            <a:endParaRPr lang="en-US" sz="1700" dirty="0">
              <a:latin typeface="Times New Roman" panose="02020603050405020304" pitchFamily="18" charset="0"/>
              <a:cs typeface="Times New Roman" panose="02020603050405020304" pitchFamily="18" charset="0"/>
            </a:endParaRPr>
          </a:p>
        </p:txBody>
      </p:sp>
      <p:sp>
        <p:nvSpPr>
          <p:cNvPr id="18" name="Text 13"/>
          <p:cNvSpPr/>
          <p:nvPr/>
        </p:nvSpPr>
        <p:spPr>
          <a:xfrm>
            <a:off x="1828800" y="4965192"/>
            <a:ext cx="3794760" cy="1051560"/>
          </a:xfrm>
          <a:prstGeom prst="rect">
            <a:avLst/>
          </a:prstGeom>
          <a:noFill/>
          <a:ln/>
        </p:spPr>
        <p:txBody>
          <a:bodyPr wrap="square" rtlCol="0" anchor="t"/>
          <a:lstStyle/>
          <a:p>
            <a:pPr marL="0" indent="0">
              <a:lnSpc>
                <a:spcPct val="115000"/>
              </a:lnSpc>
              <a:buNone/>
            </a:pPr>
            <a:r>
              <a:rPr lang="en-US" sz="1250" dirty="0">
                <a:solidFill>
                  <a:srgbClr val="5C6B7A"/>
                </a:solidFill>
                <a:latin typeface="Times New Roman" panose="02020603050405020304" pitchFamily="18" charset="0"/>
                <a:ea typeface="Calibri" pitchFamily="34" charset="-122"/>
                <a:cs typeface="Times New Roman" panose="02020603050405020304" pitchFamily="18" charset="0"/>
              </a:rPr>
              <a:t>Provide feedback signals that let automated systems regulate and stabilize voltage output.</a:t>
            </a:r>
            <a:endParaRPr lang="en-US" sz="1250" dirty="0">
              <a:latin typeface="Times New Roman" panose="02020603050405020304" pitchFamily="18" charset="0"/>
              <a:cs typeface="Times New Roman" panose="02020603050405020304" pitchFamily="18" charset="0"/>
            </a:endParaRPr>
          </a:p>
        </p:txBody>
      </p:sp>
      <p:sp>
        <p:nvSpPr>
          <p:cNvPr id="19" name="Shape 14"/>
          <p:cNvSpPr/>
          <p:nvPr/>
        </p:nvSpPr>
        <p:spPr>
          <a:xfrm>
            <a:off x="6355080" y="4251960"/>
            <a:ext cx="5349240" cy="1965960"/>
          </a:xfrm>
          <a:prstGeom prst="roundRect">
            <a:avLst>
              <a:gd name="adj" fmla="val 4651"/>
            </a:avLst>
          </a:prstGeom>
          <a:solidFill>
            <a:srgbClr val="F7F9FC"/>
          </a:solidFill>
          <a:ln/>
        </p:spPr>
      </p:sp>
      <p:sp>
        <p:nvSpPr>
          <p:cNvPr id="20" name="Shape 15"/>
          <p:cNvSpPr/>
          <p:nvPr/>
        </p:nvSpPr>
        <p:spPr>
          <a:xfrm>
            <a:off x="6629400" y="4572000"/>
            <a:ext cx="777240" cy="777240"/>
          </a:xfrm>
          <a:prstGeom prst="ellipse">
            <a:avLst/>
          </a:prstGeom>
          <a:solidFill>
            <a:srgbClr val="3E6D9C"/>
          </a:solidFill>
          <a:ln/>
        </p:spPr>
      </p:sp>
      <p:pic>
        <p:nvPicPr>
          <p:cNvPr id="21" name="Image 3" descr="/home/claude/voltage_sensor/icon_warning.png"/>
          <p:cNvPicPr>
            <a:picLocks noChangeAspect="1"/>
          </p:cNvPicPr>
          <p:nvPr/>
        </p:nvPicPr>
        <p:blipFill>
          <a:blip r:embed="rId6"/>
          <a:stretch>
            <a:fillRect/>
          </a:stretch>
        </p:blipFill>
        <p:spPr>
          <a:xfrm>
            <a:off x="6823710" y="4766310"/>
            <a:ext cx="388620" cy="388620"/>
          </a:xfrm>
          <a:prstGeom prst="rect">
            <a:avLst/>
          </a:prstGeom>
        </p:spPr>
      </p:pic>
      <p:sp>
        <p:nvSpPr>
          <p:cNvPr id="22" name="Text 16"/>
          <p:cNvSpPr/>
          <p:nvPr/>
        </p:nvSpPr>
        <p:spPr>
          <a:xfrm>
            <a:off x="7635240" y="4526280"/>
            <a:ext cx="3794760" cy="411480"/>
          </a:xfrm>
          <a:prstGeom prst="rect">
            <a:avLst/>
          </a:prstGeom>
          <a:noFill/>
          <a:ln/>
        </p:spPr>
        <p:txBody>
          <a:bodyPr wrap="square" rtlCol="0" anchor="ctr"/>
          <a:lstStyle/>
          <a:p>
            <a:pPr marL="0" indent="0">
              <a:buNone/>
            </a:pPr>
            <a:r>
              <a:rPr lang="en-US" sz="1700" b="1" dirty="0">
                <a:solidFill>
                  <a:srgbClr val="1B2A4A"/>
                </a:solidFill>
                <a:latin typeface="Times New Roman" panose="02020603050405020304" pitchFamily="18" charset="0"/>
                <a:ea typeface="Calibri" pitchFamily="34" charset="-122"/>
                <a:cs typeface="Times New Roman" panose="02020603050405020304" pitchFamily="18" charset="0"/>
              </a:rPr>
              <a:t>Safety</a:t>
            </a:r>
            <a:endParaRPr lang="en-US" sz="1700" dirty="0">
              <a:latin typeface="Times New Roman" panose="02020603050405020304" pitchFamily="18" charset="0"/>
              <a:cs typeface="Times New Roman" panose="02020603050405020304" pitchFamily="18" charset="0"/>
            </a:endParaRPr>
          </a:p>
        </p:txBody>
      </p:sp>
      <p:sp>
        <p:nvSpPr>
          <p:cNvPr id="23" name="Text 17"/>
          <p:cNvSpPr/>
          <p:nvPr/>
        </p:nvSpPr>
        <p:spPr>
          <a:xfrm>
            <a:off x="7635240" y="4965192"/>
            <a:ext cx="3794760" cy="1051560"/>
          </a:xfrm>
          <a:prstGeom prst="rect">
            <a:avLst/>
          </a:prstGeom>
          <a:noFill/>
          <a:ln/>
        </p:spPr>
        <p:txBody>
          <a:bodyPr wrap="square" rtlCol="0" anchor="t"/>
          <a:lstStyle/>
          <a:p>
            <a:pPr marL="0" indent="0">
              <a:lnSpc>
                <a:spcPct val="115000"/>
              </a:lnSpc>
              <a:buNone/>
            </a:pPr>
            <a:r>
              <a:rPr lang="en-US" sz="1250" dirty="0">
                <a:solidFill>
                  <a:srgbClr val="5C6B7A"/>
                </a:solidFill>
                <a:latin typeface="Times New Roman" panose="02020603050405020304" pitchFamily="18" charset="0"/>
                <a:ea typeface="Calibri" pitchFamily="34" charset="-122"/>
                <a:cs typeface="Times New Roman" panose="02020603050405020304" pitchFamily="18" charset="0"/>
              </a:rPr>
              <a:t>Enable isolated, contact-free measurement of high voltages, protecting people and devices.</a:t>
            </a:r>
            <a:endParaRPr lang="en-US" sz="1250" dirty="0">
              <a:latin typeface="Times New Roman" panose="02020603050405020304" pitchFamily="18" charset="0"/>
              <a:cs typeface="Times New Roman" panose="02020603050405020304" pitchFamily="18" charset="0"/>
            </a:endParaRPr>
          </a:p>
        </p:txBody>
      </p:sp>
      <p:sp>
        <p:nvSpPr>
          <p:cNvPr id="24" name="Text 18"/>
          <p:cNvSpPr/>
          <p:nvPr/>
        </p:nvSpPr>
        <p:spPr>
          <a:xfrm>
            <a:off x="457200" y="6537960"/>
            <a:ext cx="3657600" cy="274320"/>
          </a:xfrm>
          <a:prstGeom prst="rect">
            <a:avLst/>
          </a:prstGeom>
          <a:noFill/>
          <a:ln/>
        </p:spPr>
        <p:txBody>
          <a:bodyPr wrap="square" rtlCol="0" anchor="ctr"/>
          <a:lstStyle/>
          <a:p>
            <a:pPr marL="0" indent="0">
              <a:buNone/>
            </a:pPr>
            <a:r>
              <a:rPr lang="en-US" sz="900" i="1" dirty="0">
                <a:solidFill>
                  <a:srgbClr val="A9B4C2"/>
                </a:solidFill>
                <a:latin typeface="Times New Roman" panose="02020603050405020304" pitchFamily="18" charset="0"/>
                <a:ea typeface="Calibri" pitchFamily="34" charset="-122"/>
                <a:cs typeface="Times New Roman" panose="02020603050405020304" pitchFamily="18" charset="0"/>
              </a:rPr>
              <a:t>VOLTAGE SENSOR</a:t>
            </a:r>
            <a:endParaRPr lang="en-US" sz="900" dirty="0">
              <a:latin typeface="Times New Roman" panose="02020603050405020304" pitchFamily="18" charset="0"/>
              <a:cs typeface="Times New Roman" panose="02020603050405020304" pitchFamily="18" charset="0"/>
            </a:endParaRPr>
          </a:p>
        </p:txBody>
      </p:sp>
      <p:sp>
        <p:nvSpPr>
          <p:cNvPr id="25" name="Text 19"/>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A9B4C2"/>
                </a:solidFill>
                <a:latin typeface="Times New Roman" panose="02020603050405020304" pitchFamily="18" charset="0"/>
                <a:ea typeface="Calibri" pitchFamily="34" charset="-122"/>
                <a:cs typeface="Times New Roman" panose="02020603050405020304" pitchFamily="18" charset="0"/>
              </a:rPr>
              <a:t>3</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3200" b="1" dirty="0">
                <a:solidFill>
                  <a:srgbClr val="FFFFFF"/>
                </a:solidFill>
                <a:latin typeface="Times New Roman" panose="02020603050405020304" pitchFamily="18" charset="0"/>
                <a:ea typeface="Cambria" pitchFamily="34" charset="-122"/>
                <a:cs typeface="Times New Roman" panose="02020603050405020304" pitchFamily="18" charset="0"/>
              </a:rPr>
              <a:t>How a Voltage Sensor Works</a:t>
            </a:r>
            <a:endParaRPr lang="en-US" sz="3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1097280"/>
            <a:ext cx="10972800" cy="457200"/>
          </a:xfrm>
          <a:prstGeom prst="rect">
            <a:avLst/>
          </a:prstGeom>
          <a:noFill/>
          <a:ln/>
        </p:spPr>
        <p:txBody>
          <a:bodyPr wrap="square" rtlCol="0" anchor="ctr"/>
          <a:lstStyle/>
          <a:p>
            <a:pPr marL="0" indent="0">
              <a:buNone/>
            </a:pPr>
            <a:r>
              <a:rPr lang="en-US" sz="1400" i="1" dirty="0">
                <a:solidFill>
                  <a:srgbClr val="AFC0D6"/>
                </a:solidFill>
                <a:latin typeface="Times New Roman" panose="02020603050405020304" pitchFamily="18" charset="0"/>
                <a:ea typeface="Calibri" pitchFamily="34" charset="-122"/>
                <a:cs typeface="Times New Roman" panose="02020603050405020304" pitchFamily="18" charset="0"/>
              </a:rPr>
              <a:t>A four-stage process converts raw, often high, voltage into a safe, readable signal.</a:t>
            </a:r>
            <a:endParaRPr lang="en-US" sz="1400" dirty="0">
              <a:latin typeface="Times New Roman" panose="02020603050405020304" pitchFamily="18" charset="0"/>
              <a:cs typeface="Times New Roman" panose="02020603050405020304" pitchFamily="18" charset="0"/>
            </a:endParaRPr>
          </a:p>
        </p:txBody>
      </p:sp>
      <p:sp>
        <p:nvSpPr>
          <p:cNvPr id="4" name="Shape 2"/>
          <p:cNvSpPr/>
          <p:nvPr/>
        </p:nvSpPr>
        <p:spPr>
          <a:xfrm>
            <a:off x="548640" y="2286000"/>
            <a:ext cx="2514600" cy="2834640"/>
          </a:xfrm>
          <a:prstGeom prst="roundRect">
            <a:avLst>
              <a:gd name="adj" fmla="val 3636"/>
            </a:avLst>
          </a:prstGeom>
          <a:solidFill>
            <a:srgbClr val="24365C"/>
          </a:solidFill>
          <a:ln w="12700">
            <a:solidFill>
              <a:srgbClr val="3E6D9C"/>
            </a:solidFill>
            <a:prstDash val="solid"/>
          </a:ln>
        </p:spPr>
      </p:sp>
      <p:sp>
        <p:nvSpPr>
          <p:cNvPr id="5" name="Shape 3"/>
          <p:cNvSpPr/>
          <p:nvPr/>
        </p:nvSpPr>
        <p:spPr>
          <a:xfrm>
            <a:off x="1485900" y="2606040"/>
            <a:ext cx="640080" cy="640080"/>
          </a:xfrm>
          <a:prstGeom prst="ellipse">
            <a:avLst/>
          </a:prstGeom>
          <a:solidFill>
            <a:srgbClr val="FFB627"/>
          </a:solidFill>
          <a:ln/>
        </p:spPr>
      </p:sp>
      <p:sp>
        <p:nvSpPr>
          <p:cNvPr id="6" name="Text 4"/>
          <p:cNvSpPr/>
          <p:nvPr/>
        </p:nvSpPr>
        <p:spPr>
          <a:xfrm>
            <a:off x="1485900" y="2606040"/>
            <a:ext cx="640080" cy="640080"/>
          </a:xfrm>
          <a:prstGeom prst="rect">
            <a:avLst/>
          </a:prstGeom>
          <a:noFill/>
          <a:ln/>
        </p:spPr>
        <p:txBody>
          <a:bodyPr wrap="square" rtlCol="0" anchor="ctr"/>
          <a:lstStyle/>
          <a:p>
            <a:pPr marL="0" indent="0" algn="ctr">
              <a:buNone/>
            </a:pPr>
            <a:r>
              <a:rPr lang="en-US" sz="2400" b="1" dirty="0">
                <a:solidFill>
                  <a:srgbClr val="1B2A4A"/>
                </a:solidFill>
                <a:latin typeface="Times New Roman" panose="02020603050405020304" pitchFamily="18" charset="0"/>
                <a:ea typeface="Cambria" pitchFamily="34" charset="-122"/>
                <a:cs typeface="Times New Roman" panose="02020603050405020304" pitchFamily="18" charset="0"/>
              </a:rPr>
              <a:t>1</a:t>
            </a:r>
            <a:endParaRPr lang="en-US" sz="2400" dirty="0">
              <a:latin typeface="Times New Roman" panose="02020603050405020304" pitchFamily="18" charset="0"/>
              <a:cs typeface="Times New Roman" panose="02020603050405020304" pitchFamily="18" charset="0"/>
            </a:endParaRPr>
          </a:p>
        </p:txBody>
      </p:sp>
      <p:sp>
        <p:nvSpPr>
          <p:cNvPr id="7" name="Text 5"/>
          <p:cNvSpPr/>
          <p:nvPr/>
        </p:nvSpPr>
        <p:spPr>
          <a:xfrm>
            <a:off x="685800" y="3429000"/>
            <a:ext cx="2240280" cy="548640"/>
          </a:xfrm>
          <a:prstGeom prst="rect">
            <a:avLst/>
          </a:prstGeom>
          <a:noFill/>
          <a:ln/>
        </p:spPr>
        <p:txBody>
          <a:bodyPr wrap="square" rtlCol="0" anchor="ctr"/>
          <a:lstStyle/>
          <a:p>
            <a:pPr marL="0" indent="0" algn="ct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Input Voltage</a:t>
            </a:r>
            <a:endParaRPr lang="en-US" sz="1500" dirty="0">
              <a:latin typeface="Times New Roman" panose="02020603050405020304" pitchFamily="18" charset="0"/>
              <a:cs typeface="Times New Roman" panose="02020603050405020304" pitchFamily="18" charset="0"/>
            </a:endParaRPr>
          </a:p>
        </p:txBody>
      </p:sp>
      <p:sp>
        <p:nvSpPr>
          <p:cNvPr id="8" name="Text 6"/>
          <p:cNvSpPr/>
          <p:nvPr/>
        </p:nvSpPr>
        <p:spPr>
          <a:xfrm>
            <a:off x="731520" y="3977640"/>
            <a:ext cx="2148840" cy="1005840"/>
          </a:xfrm>
          <a:prstGeom prst="rect">
            <a:avLst/>
          </a:prstGeom>
          <a:noFill/>
          <a:ln/>
        </p:spPr>
        <p:txBody>
          <a:bodyPr wrap="square" rtlCol="0" anchor="t"/>
          <a:lstStyle/>
          <a:p>
            <a:pPr marL="0" indent="0" algn="ctr">
              <a:lnSpc>
                <a:spcPct val="110000"/>
              </a:lnSpc>
              <a:buNone/>
            </a:pPr>
            <a:r>
              <a:rPr lang="en-US" sz="1150" dirty="0">
                <a:solidFill>
                  <a:srgbClr val="C7D3E3"/>
                </a:solidFill>
                <a:latin typeface="Times New Roman" panose="02020603050405020304" pitchFamily="18" charset="0"/>
                <a:ea typeface="Calibri" pitchFamily="34" charset="-122"/>
                <a:cs typeface="Times New Roman" panose="02020603050405020304" pitchFamily="18" charset="0"/>
              </a:rPr>
              <a:t>The sensor connects to the circuit or line whose voltage must be measured.</a:t>
            </a:r>
            <a:endParaRPr lang="en-US" sz="1150" dirty="0">
              <a:latin typeface="Times New Roman" panose="02020603050405020304" pitchFamily="18" charset="0"/>
              <a:cs typeface="Times New Roman" panose="02020603050405020304" pitchFamily="18" charset="0"/>
            </a:endParaRPr>
          </a:p>
        </p:txBody>
      </p:sp>
      <p:sp>
        <p:nvSpPr>
          <p:cNvPr id="9" name="Text 7"/>
          <p:cNvSpPr/>
          <p:nvPr/>
        </p:nvSpPr>
        <p:spPr>
          <a:xfrm>
            <a:off x="3063240" y="3429000"/>
            <a:ext cx="256032" cy="548640"/>
          </a:xfrm>
          <a:prstGeom prst="rect">
            <a:avLst/>
          </a:prstGeom>
          <a:noFill/>
          <a:ln/>
        </p:spPr>
        <p:txBody>
          <a:bodyPr wrap="square" rtlCol="0" anchor="ctr"/>
          <a:lstStyle/>
          <a:p>
            <a:pPr marL="0" indent="0" algn="ctr">
              <a:buNone/>
            </a:pPr>
            <a:r>
              <a:rPr lang="en-US" sz="1800" b="1" dirty="0">
                <a:solidFill>
                  <a:srgbClr val="FFB627"/>
                </a:solidFill>
                <a:latin typeface="Times New Roman" panose="02020603050405020304" pitchFamily="18" charset="0"/>
                <a:ea typeface="Calibri" pitchFamily="34" charset="-122"/>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10" name="Shape 8"/>
          <p:cNvSpPr/>
          <p:nvPr/>
        </p:nvSpPr>
        <p:spPr>
          <a:xfrm>
            <a:off x="3319272" y="2286000"/>
            <a:ext cx="2514600" cy="2834640"/>
          </a:xfrm>
          <a:prstGeom prst="roundRect">
            <a:avLst>
              <a:gd name="adj" fmla="val 3636"/>
            </a:avLst>
          </a:prstGeom>
          <a:solidFill>
            <a:srgbClr val="24365C"/>
          </a:solidFill>
          <a:ln w="12700">
            <a:solidFill>
              <a:srgbClr val="3E6D9C"/>
            </a:solidFill>
            <a:prstDash val="solid"/>
          </a:ln>
        </p:spPr>
      </p:sp>
      <p:sp>
        <p:nvSpPr>
          <p:cNvPr id="11" name="Shape 9"/>
          <p:cNvSpPr/>
          <p:nvPr/>
        </p:nvSpPr>
        <p:spPr>
          <a:xfrm>
            <a:off x="4256532" y="2606040"/>
            <a:ext cx="640080" cy="640080"/>
          </a:xfrm>
          <a:prstGeom prst="ellipse">
            <a:avLst/>
          </a:prstGeom>
          <a:solidFill>
            <a:srgbClr val="FFB627"/>
          </a:solidFill>
          <a:ln/>
        </p:spPr>
      </p:sp>
      <p:sp>
        <p:nvSpPr>
          <p:cNvPr id="12" name="Text 10"/>
          <p:cNvSpPr/>
          <p:nvPr/>
        </p:nvSpPr>
        <p:spPr>
          <a:xfrm>
            <a:off x="4256532" y="2606040"/>
            <a:ext cx="640080" cy="640080"/>
          </a:xfrm>
          <a:prstGeom prst="rect">
            <a:avLst/>
          </a:prstGeom>
          <a:noFill/>
          <a:ln/>
        </p:spPr>
        <p:txBody>
          <a:bodyPr wrap="square" rtlCol="0" anchor="ctr"/>
          <a:lstStyle/>
          <a:p>
            <a:pPr marL="0" indent="0" algn="ctr">
              <a:buNone/>
            </a:pPr>
            <a:r>
              <a:rPr lang="en-US" sz="2400" b="1" dirty="0">
                <a:solidFill>
                  <a:srgbClr val="1B2A4A"/>
                </a:solidFill>
                <a:latin typeface="Times New Roman" panose="02020603050405020304" pitchFamily="18" charset="0"/>
                <a:ea typeface="Cambria" pitchFamily="34" charset="-122"/>
                <a:cs typeface="Times New Roman" panose="02020603050405020304" pitchFamily="18" charset="0"/>
              </a:rPr>
              <a:t>2</a:t>
            </a:r>
            <a:endParaRPr lang="en-US" sz="2400" dirty="0">
              <a:latin typeface="Times New Roman" panose="02020603050405020304" pitchFamily="18" charset="0"/>
              <a:cs typeface="Times New Roman" panose="02020603050405020304" pitchFamily="18" charset="0"/>
            </a:endParaRPr>
          </a:p>
        </p:txBody>
      </p:sp>
      <p:sp>
        <p:nvSpPr>
          <p:cNvPr id="13" name="Text 11"/>
          <p:cNvSpPr/>
          <p:nvPr/>
        </p:nvSpPr>
        <p:spPr>
          <a:xfrm>
            <a:off x="3456432" y="3429000"/>
            <a:ext cx="2240280" cy="548640"/>
          </a:xfrm>
          <a:prstGeom prst="rect">
            <a:avLst/>
          </a:prstGeom>
          <a:noFill/>
          <a:ln/>
        </p:spPr>
        <p:txBody>
          <a:bodyPr wrap="square" rtlCol="0" anchor="ctr"/>
          <a:lstStyle/>
          <a:p>
            <a:pPr marL="0" indent="0" algn="ct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Sensing Element</a:t>
            </a:r>
            <a:endParaRPr lang="en-US" sz="1500" dirty="0">
              <a:latin typeface="Times New Roman" panose="02020603050405020304" pitchFamily="18" charset="0"/>
              <a:cs typeface="Times New Roman" panose="02020603050405020304" pitchFamily="18" charset="0"/>
            </a:endParaRPr>
          </a:p>
        </p:txBody>
      </p:sp>
      <p:sp>
        <p:nvSpPr>
          <p:cNvPr id="14" name="Text 12"/>
          <p:cNvSpPr/>
          <p:nvPr/>
        </p:nvSpPr>
        <p:spPr>
          <a:xfrm>
            <a:off x="3502152" y="3977640"/>
            <a:ext cx="2148840" cy="1005840"/>
          </a:xfrm>
          <a:prstGeom prst="rect">
            <a:avLst/>
          </a:prstGeom>
          <a:noFill/>
          <a:ln/>
        </p:spPr>
        <p:txBody>
          <a:bodyPr wrap="square" rtlCol="0" anchor="t"/>
          <a:lstStyle/>
          <a:p>
            <a:pPr marL="0" indent="0" algn="ctr">
              <a:lnSpc>
                <a:spcPct val="110000"/>
              </a:lnSpc>
              <a:buNone/>
            </a:pPr>
            <a:r>
              <a:rPr lang="en-US" sz="1150" dirty="0">
                <a:solidFill>
                  <a:srgbClr val="C7D3E3"/>
                </a:solidFill>
                <a:latin typeface="Times New Roman" panose="02020603050405020304" pitchFamily="18" charset="0"/>
                <a:ea typeface="Calibri" pitchFamily="34" charset="-122"/>
                <a:cs typeface="Times New Roman" panose="02020603050405020304" pitchFamily="18" charset="0"/>
              </a:rPr>
              <a:t>A divider, transformer, or Hall-effect element responds proportionally to the voltage.</a:t>
            </a:r>
            <a:endParaRPr lang="en-US" sz="1150" dirty="0">
              <a:latin typeface="Times New Roman" panose="02020603050405020304" pitchFamily="18" charset="0"/>
              <a:cs typeface="Times New Roman" panose="02020603050405020304" pitchFamily="18" charset="0"/>
            </a:endParaRPr>
          </a:p>
        </p:txBody>
      </p:sp>
      <p:sp>
        <p:nvSpPr>
          <p:cNvPr id="15" name="Text 13"/>
          <p:cNvSpPr/>
          <p:nvPr/>
        </p:nvSpPr>
        <p:spPr>
          <a:xfrm>
            <a:off x="5833872" y="3429000"/>
            <a:ext cx="256032" cy="548640"/>
          </a:xfrm>
          <a:prstGeom prst="rect">
            <a:avLst/>
          </a:prstGeom>
          <a:noFill/>
          <a:ln/>
        </p:spPr>
        <p:txBody>
          <a:bodyPr wrap="square" rtlCol="0" anchor="ctr"/>
          <a:lstStyle/>
          <a:p>
            <a:pPr marL="0" indent="0" algn="ctr">
              <a:buNone/>
            </a:pPr>
            <a:r>
              <a:rPr lang="en-US" sz="1800" b="1" dirty="0">
                <a:solidFill>
                  <a:srgbClr val="FFB627"/>
                </a:solidFill>
                <a:latin typeface="Times New Roman" panose="02020603050405020304" pitchFamily="18" charset="0"/>
                <a:ea typeface="Calibri" pitchFamily="34" charset="-122"/>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16" name="Shape 14"/>
          <p:cNvSpPr/>
          <p:nvPr/>
        </p:nvSpPr>
        <p:spPr>
          <a:xfrm>
            <a:off x="6089904" y="2286000"/>
            <a:ext cx="2514600" cy="2834640"/>
          </a:xfrm>
          <a:prstGeom prst="roundRect">
            <a:avLst>
              <a:gd name="adj" fmla="val 3636"/>
            </a:avLst>
          </a:prstGeom>
          <a:solidFill>
            <a:srgbClr val="24365C"/>
          </a:solidFill>
          <a:ln w="12700">
            <a:solidFill>
              <a:srgbClr val="3E6D9C"/>
            </a:solidFill>
            <a:prstDash val="solid"/>
          </a:ln>
        </p:spPr>
      </p:sp>
      <p:sp>
        <p:nvSpPr>
          <p:cNvPr id="17" name="Shape 15"/>
          <p:cNvSpPr/>
          <p:nvPr/>
        </p:nvSpPr>
        <p:spPr>
          <a:xfrm>
            <a:off x="7027164" y="2606040"/>
            <a:ext cx="640080" cy="640080"/>
          </a:xfrm>
          <a:prstGeom prst="ellipse">
            <a:avLst/>
          </a:prstGeom>
          <a:solidFill>
            <a:srgbClr val="FFB627"/>
          </a:solidFill>
          <a:ln/>
        </p:spPr>
      </p:sp>
      <p:sp>
        <p:nvSpPr>
          <p:cNvPr id="18" name="Text 16"/>
          <p:cNvSpPr/>
          <p:nvPr/>
        </p:nvSpPr>
        <p:spPr>
          <a:xfrm>
            <a:off x="7027164" y="2606040"/>
            <a:ext cx="640080" cy="640080"/>
          </a:xfrm>
          <a:prstGeom prst="rect">
            <a:avLst/>
          </a:prstGeom>
          <a:noFill/>
          <a:ln/>
        </p:spPr>
        <p:txBody>
          <a:bodyPr wrap="square" rtlCol="0" anchor="ctr"/>
          <a:lstStyle/>
          <a:p>
            <a:pPr marL="0" indent="0" algn="ctr">
              <a:buNone/>
            </a:pPr>
            <a:r>
              <a:rPr lang="en-US" sz="2400" b="1" dirty="0">
                <a:solidFill>
                  <a:srgbClr val="1B2A4A"/>
                </a:solidFill>
                <a:latin typeface="Times New Roman" panose="02020603050405020304" pitchFamily="18" charset="0"/>
                <a:ea typeface="Cambria" pitchFamily="34" charset="-122"/>
                <a:cs typeface="Times New Roman" panose="02020603050405020304" pitchFamily="18" charset="0"/>
              </a:rPr>
              <a:t>3</a:t>
            </a:r>
            <a:endParaRPr lang="en-US" sz="2400" dirty="0">
              <a:latin typeface="Times New Roman" panose="02020603050405020304" pitchFamily="18" charset="0"/>
              <a:cs typeface="Times New Roman" panose="02020603050405020304" pitchFamily="18" charset="0"/>
            </a:endParaRPr>
          </a:p>
        </p:txBody>
      </p:sp>
      <p:sp>
        <p:nvSpPr>
          <p:cNvPr id="19" name="Text 17"/>
          <p:cNvSpPr/>
          <p:nvPr/>
        </p:nvSpPr>
        <p:spPr>
          <a:xfrm>
            <a:off x="6227064" y="3429000"/>
            <a:ext cx="2240280" cy="548640"/>
          </a:xfrm>
          <a:prstGeom prst="rect">
            <a:avLst/>
          </a:prstGeom>
          <a:noFill/>
          <a:ln/>
        </p:spPr>
        <p:txBody>
          <a:bodyPr wrap="square" rtlCol="0" anchor="ctr"/>
          <a:lstStyle/>
          <a:p>
            <a:pPr marL="0" indent="0" algn="ct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Signal Conditioning</a:t>
            </a:r>
            <a:endParaRPr lang="en-US" sz="1500" dirty="0">
              <a:latin typeface="Times New Roman" panose="02020603050405020304" pitchFamily="18" charset="0"/>
              <a:cs typeface="Times New Roman" panose="02020603050405020304" pitchFamily="18" charset="0"/>
            </a:endParaRPr>
          </a:p>
        </p:txBody>
      </p:sp>
      <p:sp>
        <p:nvSpPr>
          <p:cNvPr id="20" name="Text 18"/>
          <p:cNvSpPr/>
          <p:nvPr/>
        </p:nvSpPr>
        <p:spPr>
          <a:xfrm>
            <a:off x="6272784" y="3977640"/>
            <a:ext cx="2148840" cy="1005840"/>
          </a:xfrm>
          <a:prstGeom prst="rect">
            <a:avLst/>
          </a:prstGeom>
          <a:noFill/>
          <a:ln/>
        </p:spPr>
        <p:txBody>
          <a:bodyPr wrap="square" rtlCol="0" anchor="t"/>
          <a:lstStyle/>
          <a:p>
            <a:pPr marL="0" indent="0" algn="ctr">
              <a:lnSpc>
                <a:spcPct val="110000"/>
              </a:lnSpc>
              <a:buNone/>
            </a:pPr>
            <a:r>
              <a:rPr lang="en-US" sz="1150" dirty="0">
                <a:solidFill>
                  <a:srgbClr val="C7D3E3"/>
                </a:solidFill>
                <a:latin typeface="Times New Roman" panose="02020603050405020304" pitchFamily="18" charset="0"/>
                <a:ea typeface="Calibri" pitchFamily="34" charset="-122"/>
                <a:cs typeface="Times New Roman" panose="02020603050405020304" pitchFamily="18" charset="0"/>
              </a:rPr>
              <a:t>The raw signal is scaled, filtered, and isolated for safety and accuracy.</a:t>
            </a:r>
            <a:endParaRPr lang="en-US" sz="1150" dirty="0">
              <a:latin typeface="Times New Roman" panose="02020603050405020304" pitchFamily="18" charset="0"/>
              <a:cs typeface="Times New Roman" panose="02020603050405020304" pitchFamily="18" charset="0"/>
            </a:endParaRPr>
          </a:p>
        </p:txBody>
      </p:sp>
      <p:sp>
        <p:nvSpPr>
          <p:cNvPr id="21" name="Text 19"/>
          <p:cNvSpPr/>
          <p:nvPr/>
        </p:nvSpPr>
        <p:spPr>
          <a:xfrm>
            <a:off x="8604504" y="3429000"/>
            <a:ext cx="256032" cy="548640"/>
          </a:xfrm>
          <a:prstGeom prst="rect">
            <a:avLst/>
          </a:prstGeom>
          <a:noFill/>
          <a:ln/>
        </p:spPr>
        <p:txBody>
          <a:bodyPr wrap="square" rtlCol="0" anchor="ctr"/>
          <a:lstStyle/>
          <a:p>
            <a:pPr marL="0" indent="0" algn="ctr">
              <a:buNone/>
            </a:pPr>
            <a:r>
              <a:rPr lang="en-US" sz="1800" b="1" dirty="0">
                <a:solidFill>
                  <a:srgbClr val="FFB627"/>
                </a:solidFill>
                <a:latin typeface="Times New Roman" panose="02020603050405020304" pitchFamily="18" charset="0"/>
                <a:ea typeface="Calibri" pitchFamily="34" charset="-122"/>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22" name="Shape 20"/>
          <p:cNvSpPr/>
          <p:nvPr/>
        </p:nvSpPr>
        <p:spPr>
          <a:xfrm>
            <a:off x="8860536" y="2286000"/>
            <a:ext cx="2514600" cy="2834640"/>
          </a:xfrm>
          <a:prstGeom prst="roundRect">
            <a:avLst>
              <a:gd name="adj" fmla="val 3636"/>
            </a:avLst>
          </a:prstGeom>
          <a:solidFill>
            <a:srgbClr val="24365C"/>
          </a:solidFill>
          <a:ln w="12700">
            <a:solidFill>
              <a:srgbClr val="3E6D9C"/>
            </a:solidFill>
            <a:prstDash val="solid"/>
          </a:ln>
        </p:spPr>
      </p:sp>
      <p:sp>
        <p:nvSpPr>
          <p:cNvPr id="23" name="Shape 21"/>
          <p:cNvSpPr/>
          <p:nvPr/>
        </p:nvSpPr>
        <p:spPr>
          <a:xfrm>
            <a:off x="9797796" y="2606040"/>
            <a:ext cx="640080" cy="640080"/>
          </a:xfrm>
          <a:prstGeom prst="ellipse">
            <a:avLst/>
          </a:prstGeom>
          <a:solidFill>
            <a:srgbClr val="FFB627"/>
          </a:solidFill>
          <a:ln/>
        </p:spPr>
      </p:sp>
      <p:sp>
        <p:nvSpPr>
          <p:cNvPr id="24" name="Text 22"/>
          <p:cNvSpPr/>
          <p:nvPr/>
        </p:nvSpPr>
        <p:spPr>
          <a:xfrm>
            <a:off x="9797796" y="2606040"/>
            <a:ext cx="640080" cy="640080"/>
          </a:xfrm>
          <a:prstGeom prst="rect">
            <a:avLst/>
          </a:prstGeom>
          <a:noFill/>
          <a:ln/>
        </p:spPr>
        <p:txBody>
          <a:bodyPr wrap="square" rtlCol="0" anchor="ctr"/>
          <a:lstStyle/>
          <a:p>
            <a:pPr marL="0" indent="0" algn="ctr">
              <a:buNone/>
            </a:pPr>
            <a:r>
              <a:rPr lang="en-US" sz="2400" b="1" dirty="0">
                <a:solidFill>
                  <a:srgbClr val="1B2A4A"/>
                </a:solidFill>
                <a:latin typeface="Times New Roman" panose="02020603050405020304" pitchFamily="18" charset="0"/>
                <a:ea typeface="Cambria" pitchFamily="34" charset="-122"/>
                <a:cs typeface="Times New Roman" panose="02020603050405020304" pitchFamily="18" charset="0"/>
              </a:rPr>
              <a:t>4</a:t>
            </a:r>
            <a:endParaRPr lang="en-US" sz="2400" dirty="0">
              <a:latin typeface="Times New Roman" panose="02020603050405020304" pitchFamily="18" charset="0"/>
              <a:cs typeface="Times New Roman" panose="02020603050405020304" pitchFamily="18" charset="0"/>
            </a:endParaRPr>
          </a:p>
        </p:txBody>
      </p:sp>
      <p:sp>
        <p:nvSpPr>
          <p:cNvPr id="25" name="Text 23"/>
          <p:cNvSpPr/>
          <p:nvPr/>
        </p:nvSpPr>
        <p:spPr>
          <a:xfrm>
            <a:off x="8997696" y="3429000"/>
            <a:ext cx="2240280" cy="548640"/>
          </a:xfrm>
          <a:prstGeom prst="rect">
            <a:avLst/>
          </a:prstGeom>
          <a:noFill/>
          <a:ln/>
        </p:spPr>
        <p:txBody>
          <a:bodyPr wrap="square" rtlCol="0" anchor="ctr"/>
          <a:lstStyle/>
          <a:p>
            <a:pPr marL="0" indent="0" algn="ctr">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Output Signal</a:t>
            </a:r>
            <a:endParaRPr lang="en-US" sz="1500" dirty="0">
              <a:latin typeface="Times New Roman" panose="02020603050405020304" pitchFamily="18" charset="0"/>
              <a:cs typeface="Times New Roman" panose="02020603050405020304" pitchFamily="18" charset="0"/>
            </a:endParaRPr>
          </a:p>
        </p:txBody>
      </p:sp>
      <p:sp>
        <p:nvSpPr>
          <p:cNvPr id="26" name="Text 24"/>
          <p:cNvSpPr/>
          <p:nvPr/>
        </p:nvSpPr>
        <p:spPr>
          <a:xfrm>
            <a:off x="9043416" y="3977640"/>
            <a:ext cx="2148840" cy="1005840"/>
          </a:xfrm>
          <a:prstGeom prst="rect">
            <a:avLst/>
          </a:prstGeom>
          <a:noFill/>
          <a:ln/>
        </p:spPr>
        <p:txBody>
          <a:bodyPr wrap="square" rtlCol="0" anchor="t"/>
          <a:lstStyle/>
          <a:p>
            <a:pPr marL="0" indent="0" algn="ctr">
              <a:lnSpc>
                <a:spcPct val="110000"/>
              </a:lnSpc>
              <a:buNone/>
            </a:pPr>
            <a:r>
              <a:rPr lang="en-US" sz="1150" dirty="0">
                <a:solidFill>
                  <a:srgbClr val="C7D3E3"/>
                </a:solidFill>
                <a:latin typeface="Times New Roman" panose="02020603050405020304" pitchFamily="18" charset="0"/>
                <a:ea typeface="Calibri" pitchFamily="34" charset="-122"/>
                <a:cs typeface="Times New Roman" panose="02020603050405020304" pitchFamily="18" charset="0"/>
              </a:rPr>
              <a:t>A low-level analog or digital signal is sent to a meter, controller, or display.</a:t>
            </a:r>
            <a:endParaRPr lang="en-US" sz="1150" dirty="0">
              <a:latin typeface="Times New Roman" panose="02020603050405020304" pitchFamily="18" charset="0"/>
              <a:cs typeface="Times New Roman" panose="02020603050405020304" pitchFamily="18" charset="0"/>
            </a:endParaRPr>
          </a:p>
        </p:txBody>
      </p:sp>
      <p:sp>
        <p:nvSpPr>
          <p:cNvPr id="27" name="Text 25"/>
          <p:cNvSpPr/>
          <p:nvPr/>
        </p:nvSpPr>
        <p:spPr>
          <a:xfrm>
            <a:off x="457200" y="6537960"/>
            <a:ext cx="3657600" cy="274320"/>
          </a:xfrm>
          <a:prstGeom prst="rect">
            <a:avLst/>
          </a:prstGeom>
          <a:noFill/>
          <a:ln/>
        </p:spPr>
        <p:txBody>
          <a:bodyPr wrap="square" rtlCol="0" anchor="ctr"/>
          <a:lstStyle/>
          <a:p>
            <a:pPr marL="0" indent="0">
              <a:buNone/>
            </a:pPr>
            <a:r>
              <a:rPr lang="en-US" sz="900" i="1" dirty="0">
                <a:solidFill>
                  <a:srgbClr val="8FA3BF"/>
                </a:solidFill>
                <a:latin typeface="Times New Roman" panose="02020603050405020304" pitchFamily="18" charset="0"/>
                <a:ea typeface="Calibri" pitchFamily="34" charset="-122"/>
                <a:cs typeface="Times New Roman" panose="02020603050405020304" pitchFamily="18" charset="0"/>
              </a:rPr>
              <a:t>VOLTAGE SENSOR</a:t>
            </a:r>
            <a:endParaRPr lang="en-US" sz="900" dirty="0">
              <a:latin typeface="Times New Roman" panose="02020603050405020304" pitchFamily="18" charset="0"/>
              <a:cs typeface="Times New Roman" panose="02020603050405020304" pitchFamily="18" charset="0"/>
            </a:endParaRPr>
          </a:p>
        </p:txBody>
      </p:sp>
      <p:sp>
        <p:nvSpPr>
          <p:cNvPr id="28" name="Text 26"/>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8FA3BF"/>
                </a:solidFill>
                <a:latin typeface="Times New Roman" panose="02020603050405020304" pitchFamily="18" charset="0"/>
                <a:ea typeface="Calibri" pitchFamily="34" charset="-122"/>
                <a:cs typeface="Times New Roman" panose="02020603050405020304" pitchFamily="18" charset="0"/>
              </a:rPr>
              <a:t>4</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3200" b="1" dirty="0">
                <a:solidFill>
                  <a:srgbClr val="1B2A4A"/>
                </a:solidFill>
                <a:latin typeface="Times New Roman" panose="02020603050405020304" pitchFamily="18" charset="0"/>
                <a:ea typeface="Cambria" pitchFamily="34" charset="-122"/>
                <a:cs typeface="Times New Roman" panose="02020603050405020304" pitchFamily="18" charset="0"/>
              </a:rPr>
              <a:t>Types of Voltage Sensors</a:t>
            </a:r>
            <a:endParaRPr lang="en-US" sz="3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1097280"/>
            <a:ext cx="10972800" cy="457200"/>
          </a:xfrm>
          <a:prstGeom prst="rect">
            <a:avLst/>
          </a:prstGeom>
          <a:noFill/>
          <a:ln/>
        </p:spPr>
        <p:txBody>
          <a:bodyPr wrap="square" rtlCol="0" anchor="ctr"/>
          <a:lstStyle/>
          <a:p>
            <a:pPr marL="0" indent="0">
              <a:buNone/>
            </a:pPr>
            <a:r>
              <a:rPr lang="en-US" sz="1400" i="1" dirty="0">
                <a:solidFill>
                  <a:srgbClr val="5C6B7A"/>
                </a:solidFill>
                <a:latin typeface="Times New Roman" panose="02020603050405020304" pitchFamily="18" charset="0"/>
                <a:ea typeface="Calibri" pitchFamily="34" charset="-122"/>
                <a:cs typeface="Times New Roman" panose="02020603050405020304" pitchFamily="18" charset="0"/>
              </a:rPr>
              <a:t>Four common sensing technologies, each suited to different voltage ranges and applications.</a:t>
            </a:r>
            <a:endParaRPr lang="en-US" sz="1400" dirty="0">
              <a:latin typeface="Times New Roman" panose="02020603050405020304" pitchFamily="18" charset="0"/>
              <a:cs typeface="Times New Roman" panose="02020603050405020304" pitchFamily="18" charset="0"/>
            </a:endParaRPr>
          </a:p>
        </p:txBody>
      </p:sp>
      <p:sp>
        <p:nvSpPr>
          <p:cNvPr id="4" name="Shape 2"/>
          <p:cNvSpPr/>
          <p:nvPr/>
        </p:nvSpPr>
        <p:spPr>
          <a:xfrm>
            <a:off x="548640" y="1965960"/>
            <a:ext cx="5349240" cy="1965960"/>
          </a:xfrm>
          <a:prstGeom prst="roundRect">
            <a:avLst>
              <a:gd name="adj" fmla="val 4651"/>
            </a:avLst>
          </a:prstGeom>
          <a:solidFill>
            <a:srgbClr val="F7F9FC"/>
          </a:solidFill>
          <a:ln/>
        </p:spPr>
      </p:sp>
      <p:sp>
        <p:nvSpPr>
          <p:cNvPr id="5" name="Shape 3"/>
          <p:cNvSpPr/>
          <p:nvPr/>
        </p:nvSpPr>
        <p:spPr>
          <a:xfrm>
            <a:off x="822960" y="2286000"/>
            <a:ext cx="777240" cy="777240"/>
          </a:xfrm>
          <a:prstGeom prst="ellipse">
            <a:avLst/>
          </a:prstGeom>
          <a:solidFill>
            <a:srgbClr val="FFB627"/>
          </a:solidFill>
          <a:ln/>
        </p:spPr>
      </p:sp>
      <p:pic>
        <p:nvPicPr>
          <p:cNvPr id="6" name="Image 0" descr="/home/claude/voltage_sensor/icon_divider.png"/>
          <p:cNvPicPr>
            <a:picLocks noChangeAspect="1"/>
          </p:cNvPicPr>
          <p:nvPr/>
        </p:nvPicPr>
        <p:blipFill>
          <a:blip r:embed="rId3"/>
          <a:stretch>
            <a:fillRect/>
          </a:stretch>
        </p:blipFill>
        <p:spPr>
          <a:xfrm>
            <a:off x="1017270" y="2480310"/>
            <a:ext cx="388620" cy="388620"/>
          </a:xfrm>
          <a:prstGeom prst="rect">
            <a:avLst/>
          </a:prstGeom>
        </p:spPr>
      </p:pic>
      <p:sp>
        <p:nvSpPr>
          <p:cNvPr id="7" name="Text 4"/>
          <p:cNvSpPr/>
          <p:nvPr/>
        </p:nvSpPr>
        <p:spPr>
          <a:xfrm>
            <a:off x="1828800" y="2240280"/>
            <a:ext cx="3794760" cy="411480"/>
          </a:xfrm>
          <a:prstGeom prst="rect">
            <a:avLst/>
          </a:prstGeom>
          <a:noFill/>
          <a:ln/>
        </p:spPr>
        <p:txBody>
          <a:bodyPr wrap="square" rtlCol="0" anchor="ctr"/>
          <a:lstStyle/>
          <a:p>
            <a:pPr marL="0" indent="0">
              <a:buNone/>
            </a:pPr>
            <a:r>
              <a:rPr lang="en-US" sz="1700" b="1" dirty="0">
                <a:solidFill>
                  <a:srgbClr val="1B2A4A"/>
                </a:solidFill>
                <a:latin typeface="Times New Roman" panose="02020603050405020304" pitchFamily="18" charset="0"/>
                <a:ea typeface="Calibri" pitchFamily="34" charset="-122"/>
                <a:cs typeface="Times New Roman" panose="02020603050405020304" pitchFamily="18" charset="0"/>
              </a:rPr>
              <a:t>Resistive Divider</a:t>
            </a:r>
            <a:endParaRPr lang="en-US" sz="1700" dirty="0">
              <a:latin typeface="Times New Roman" panose="02020603050405020304" pitchFamily="18" charset="0"/>
              <a:cs typeface="Times New Roman" panose="02020603050405020304" pitchFamily="18" charset="0"/>
            </a:endParaRPr>
          </a:p>
        </p:txBody>
      </p:sp>
      <p:sp>
        <p:nvSpPr>
          <p:cNvPr id="8" name="Text 5"/>
          <p:cNvSpPr/>
          <p:nvPr/>
        </p:nvSpPr>
        <p:spPr>
          <a:xfrm>
            <a:off x="1828800" y="2679192"/>
            <a:ext cx="3794760" cy="1051560"/>
          </a:xfrm>
          <a:prstGeom prst="rect">
            <a:avLst/>
          </a:prstGeom>
          <a:noFill/>
          <a:ln/>
        </p:spPr>
        <p:txBody>
          <a:bodyPr wrap="square" rtlCol="0" anchor="t"/>
          <a:lstStyle/>
          <a:p>
            <a:pPr marL="0" indent="0">
              <a:lnSpc>
                <a:spcPct val="115000"/>
              </a:lnSpc>
              <a:buNone/>
            </a:pPr>
            <a:r>
              <a:rPr lang="en-US" sz="1250" dirty="0">
                <a:solidFill>
                  <a:srgbClr val="5C6B7A"/>
                </a:solidFill>
                <a:latin typeface="Times New Roman" panose="02020603050405020304" pitchFamily="18" charset="0"/>
                <a:ea typeface="Calibri" pitchFamily="34" charset="-122"/>
                <a:cs typeface="Times New Roman" panose="02020603050405020304" pitchFamily="18" charset="0"/>
              </a:rPr>
              <a:t>Two resistors scale down high voltage into a small, proportional measurable voltage.</a:t>
            </a:r>
            <a:endParaRPr lang="en-US" sz="1250" dirty="0">
              <a:latin typeface="Times New Roman" panose="02020603050405020304" pitchFamily="18" charset="0"/>
              <a:cs typeface="Times New Roman" panose="02020603050405020304" pitchFamily="18" charset="0"/>
            </a:endParaRPr>
          </a:p>
        </p:txBody>
      </p:sp>
      <p:sp>
        <p:nvSpPr>
          <p:cNvPr id="9" name="Shape 6"/>
          <p:cNvSpPr/>
          <p:nvPr/>
        </p:nvSpPr>
        <p:spPr>
          <a:xfrm>
            <a:off x="6355080" y="1965960"/>
            <a:ext cx="5349240" cy="1965960"/>
          </a:xfrm>
          <a:prstGeom prst="roundRect">
            <a:avLst>
              <a:gd name="adj" fmla="val 4651"/>
            </a:avLst>
          </a:prstGeom>
          <a:solidFill>
            <a:srgbClr val="F7F9FC"/>
          </a:solidFill>
          <a:ln/>
        </p:spPr>
      </p:sp>
      <p:sp>
        <p:nvSpPr>
          <p:cNvPr id="10" name="Shape 7"/>
          <p:cNvSpPr/>
          <p:nvPr/>
        </p:nvSpPr>
        <p:spPr>
          <a:xfrm>
            <a:off x="6629400" y="2286000"/>
            <a:ext cx="777240" cy="777240"/>
          </a:xfrm>
          <a:prstGeom prst="ellipse">
            <a:avLst/>
          </a:prstGeom>
          <a:solidFill>
            <a:srgbClr val="FFB627"/>
          </a:solidFill>
          <a:ln/>
        </p:spPr>
      </p:sp>
      <p:pic>
        <p:nvPicPr>
          <p:cNvPr id="11" name="Image 1" descr="/home/claude/voltage_sensor/icon_magnet.png"/>
          <p:cNvPicPr>
            <a:picLocks noChangeAspect="1"/>
          </p:cNvPicPr>
          <p:nvPr/>
        </p:nvPicPr>
        <p:blipFill>
          <a:blip r:embed="rId4"/>
          <a:stretch>
            <a:fillRect/>
          </a:stretch>
        </p:blipFill>
        <p:spPr>
          <a:xfrm>
            <a:off x="6823710" y="2480310"/>
            <a:ext cx="388620" cy="388620"/>
          </a:xfrm>
          <a:prstGeom prst="rect">
            <a:avLst/>
          </a:prstGeom>
        </p:spPr>
      </p:pic>
      <p:sp>
        <p:nvSpPr>
          <p:cNvPr id="12" name="Text 8"/>
          <p:cNvSpPr/>
          <p:nvPr/>
        </p:nvSpPr>
        <p:spPr>
          <a:xfrm>
            <a:off x="7635240" y="2240280"/>
            <a:ext cx="3794760" cy="411480"/>
          </a:xfrm>
          <a:prstGeom prst="rect">
            <a:avLst/>
          </a:prstGeom>
          <a:noFill/>
          <a:ln/>
        </p:spPr>
        <p:txBody>
          <a:bodyPr wrap="square" rtlCol="0" anchor="ctr"/>
          <a:lstStyle/>
          <a:p>
            <a:pPr marL="0" indent="0">
              <a:buNone/>
            </a:pPr>
            <a:r>
              <a:rPr lang="en-US" sz="1700" b="1" dirty="0">
                <a:solidFill>
                  <a:srgbClr val="1B2A4A"/>
                </a:solidFill>
                <a:latin typeface="Times New Roman" panose="02020603050405020304" pitchFamily="18" charset="0"/>
                <a:ea typeface="Calibri" pitchFamily="34" charset="-122"/>
                <a:cs typeface="Times New Roman" panose="02020603050405020304" pitchFamily="18" charset="0"/>
              </a:rPr>
              <a:t>Hall Effect</a:t>
            </a:r>
            <a:endParaRPr lang="en-US" sz="1700" dirty="0">
              <a:latin typeface="Times New Roman" panose="02020603050405020304" pitchFamily="18" charset="0"/>
              <a:cs typeface="Times New Roman" panose="02020603050405020304" pitchFamily="18" charset="0"/>
            </a:endParaRPr>
          </a:p>
        </p:txBody>
      </p:sp>
      <p:sp>
        <p:nvSpPr>
          <p:cNvPr id="13" name="Text 9"/>
          <p:cNvSpPr/>
          <p:nvPr/>
        </p:nvSpPr>
        <p:spPr>
          <a:xfrm>
            <a:off x="7635240" y="2679192"/>
            <a:ext cx="3794760" cy="1051560"/>
          </a:xfrm>
          <a:prstGeom prst="rect">
            <a:avLst/>
          </a:prstGeom>
          <a:noFill/>
          <a:ln/>
        </p:spPr>
        <p:txBody>
          <a:bodyPr wrap="square" rtlCol="0" anchor="t"/>
          <a:lstStyle/>
          <a:p>
            <a:pPr marL="0" indent="0">
              <a:lnSpc>
                <a:spcPct val="115000"/>
              </a:lnSpc>
              <a:buNone/>
            </a:pPr>
            <a:r>
              <a:rPr lang="en-US" sz="1250" dirty="0">
                <a:solidFill>
                  <a:srgbClr val="5C6B7A"/>
                </a:solidFill>
                <a:latin typeface="Times New Roman" panose="02020603050405020304" pitchFamily="18" charset="0"/>
                <a:ea typeface="Calibri" pitchFamily="34" charset="-122"/>
                <a:cs typeface="Times New Roman" panose="02020603050405020304" pitchFamily="18" charset="0"/>
              </a:rPr>
              <a:t>Uses a magnetic field to sense voltage-driven current with full electrical isolation.</a:t>
            </a:r>
            <a:endParaRPr lang="en-US" sz="1250" dirty="0">
              <a:latin typeface="Times New Roman" panose="02020603050405020304" pitchFamily="18" charset="0"/>
              <a:cs typeface="Times New Roman" panose="02020603050405020304" pitchFamily="18" charset="0"/>
            </a:endParaRPr>
          </a:p>
        </p:txBody>
      </p:sp>
      <p:sp>
        <p:nvSpPr>
          <p:cNvPr id="14" name="Shape 10"/>
          <p:cNvSpPr/>
          <p:nvPr/>
        </p:nvSpPr>
        <p:spPr>
          <a:xfrm>
            <a:off x="548640" y="4251960"/>
            <a:ext cx="5349240" cy="1965960"/>
          </a:xfrm>
          <a:prstGeom prst="roundRect">
            <a:avLst>
              <a:gd name="adj" fmla="val 4651"/>
            </a:avLst>
          </a:prstGeom>
          <a:solidFill>
            <a:srgbClr val="F7F9FC"/>
          </a:solidFill>
          <a:ln/>
        </p:spPr>
      </p:sp>
      <p:sp>
        <p:nvSpPr>
          <p:cNvPr id="15" name="Shape 11"/>
          <p:cNvSpPr/>
          <p:nvPr/>
        </p:nvSpPr>
        <p:spPr>
          <a:xfrm>
            <a:off x="822960" y="4572000"/>
            <a:ext cx="777240" cy="777240"/>
          </a:xfrm>
          <a:prstGeom prst="ellipse">
            <a:avLst/>
          </a:prstGeom>
          <a:solidFill>
            <a:srgbClr val="FFB627"/>
          </a:solidFill>
          <a:ln/>
        </p:spPr>
      </p:sp>
      <p:pic>
        <p:nvPicPr>
          <p:cNvPr id="16" name="Image 2" descr="/home/claude/voltage_sensor/icon_bulb.png"/>
          <p:cNvPicPr>
            <a:picLocks noChangeAspect="1"/>
          </p:cNvPicPr>
          <p:nvPr/>
        </p:nvPicPr>
        <p:blipFill>
          <a:blip r:embed="rId5"/>
          <a:stretch>
            <a:fillRect/>
          </a:stretch>
        </p:blipFill>
        <p:spPr>
          <a:xfrm>
            <a:off x="1017270" y="4766310"/>
            <a:ext cx="388620" cy="388620"/>
          </a:xfrm>
          <a:prstGeom prst="rect">
            <a:avLst/>
          </a:prstGeom>
        </p:spPr>
      </p:pic>
      <p:sp>
        <p:nvSpPr>
          <p:cNvPr id="17" name="Text 12"/>
          <p:cNvSpPr/>
          <p:nvPr/>
        </p:nvSpPr>
        <p:spPr>
          <a:xfrm>
            <a:off x="1828800" y="4526280"/>
            <a:ext cx="3794760" cy="411480"/>
          </a:xfrm>
          <a:prstGeom prst="rect">
            <a:avLst/>
          </a:prstGeom>
          <a:noFill/>
          <a:ln/>
        </p:spPr>
        <p:txBody>
          <a:bodyPr wrap="square" rtlCol="0" anchor="ctr"/>
          <a:lstStyle/>
          <a:p>
            <a:pPr marL="0" indent="0">
              <a:buNone/>
            </a:pPr>
            <a:r>
              <a:rPr lang="en-US" sz="1700" b="1" dirty="0">
                <a:solidFill>
                  <a:srgbClr val="1B2A4A"/>
                </a:solidFill>
                <a:latin typeface="Times New Roman" panose="02020603050405020304" pitchFamily="18" charset="0"/>
                <a:ea typeface="Calibri" pitchFamily="34" charset="-122"/>
                <a:cs typeface="Times New Roman" panose="02020603050405020304" pitchFamily="18" charset="0"/>
              </a:rPr>
              <a:t>Optical / Isolation Amp</a:t>
            </a:r>
            <a:endParaRPr lang="en-US" sz="1700" dirty="0">
              <a:latin typeface="Times New Roman" panose="02020603050405020304" pitchFamily="18" charset="0"/>
              <a:cs typeface="Times New Roman" panose="02020603050405020304" pitchFamily="18" charset="0"/>
            </a:endParaRPr>
          </a:p>
        </p:txBody>
      </p:sp>
      <p:sp>
        <p:nvSpPr>
          <p:cNvPr id="18" name="Text 13"/>
          <p:cNvSpPr/>
          <p:nvPr/>
        </p:nvSpPr>
        <p:spPr>
          <a:xfrm>
            <a:off x="1828800" y="4965192"/>
            <a:ext cx="3794760" cy="1051560"/>
          </a:xfrm>
          <a:prstGeom prst="rect">
            <a:avLst/>
          </a:prstGeom>
          <a:noFill/>
          <a:ln/>
        </p:spPr>
        <p:txBody>
          <a:bodyPr wrap="square" rtlCol="0" anchor="t"/>
          <a:lstStyle/>
          <a:p>
            <a:pPr marL="0" indent="0">
              <a:lnSpc>
                <a:spcPct val="115000"/>
              </a:lnSpc>
              <a:buNone/>
            </a:pPr>
            <a:r>
              <a:rPr lang="en-US" sz="1250" dirty="0">
                <a:solidFill>
                  <a:srgbClr val="5C6B7A"/>
                </a:solidFill>
                <a:latin typeface="Times New Roman" panose="02020603050405020304" pitchFamily="18" charset="0"/>
                <a:ea typeface="Calibri" pitchFamily="34" charset="-122"/>
                <a:cs typeface="Times New Roman" panose="02020603050405020304" pitchFamily="18" charset="0"/>
              </a:rPr>
              <a:t>Transmits the signal via light or an isolated amplifier for very high safety margins.</a:t>
            </a:r>
            <a:endParaRPr lang="en-US" sz="1250" dirty="0">
              <a:latin typeface="Times New Roman" panose="02020603050405020304" pitchFamily="18" charset="0"/>
              <a:cs typeface="Times New Roman" panose="02020603050405020304" pitchFamily="18" charset="0"/>
            </a:endParaRPr>
          </a:p>
        </p:txBody>
      </p:sp>
      <p:sp>
        <p:nvSpPr>
          <p:cNvPr id="19" name="Shape 14"/>
          <p:cNvSpPr/>
          <p:nvPr/>
        </p:nvSpPr>
        <p:spPr>
          <a:xfrm>
            <a:off x="6355080" y="4251960"/>
            <a:ext cx="5349240" cy="1965960"/>
          </a:xfrm>
          <a:prstGeom prst="roundRect">
            <a:avLst>
              <a:gd name="adj" fmla="val 4651"/>
            </a:avLst>
          </a:prstGeom>
          <a:solidFill>
            <a:srgbClr val="F7F9FC"/>
          </a:solidFill>
          <a:ln/>
        </p:spPr>
      </p:sp>
      <p:sp>
        <p:nvSpPr>
          <p:cNvPr id="20" name="Shape 15"/>
          <p:cNvSpPr/>
          <p:nvPr/>
        </p:nvSpPr>
        <p:spPr>
          <a:xfrm>
            <a:off x="6629400" y="4572000"/>
            <a:ext cx="777240" cy="777240"/>
          </a:xfrm>
          <a:prstGeom prst="ellipse">
            <a:avLst/>
          </a:prstGeom>
          <a:solidFill>
            <a:srgbClr val="FFB627"/>
          </a:solidFill>
          <a:ln/>
        </p:spPr>
      </p:sp>
      <p:pic>
        <p:nvPicPr>
          <p:cNvPr id="21" name="Image 3" descr="/home/claude/voltage_sensor/icon_chart.png"/>
          <p:cNvPicPr>
            <a:picLocks noChangeAspect="1"/>
          </p:cNvPicPr>
          <p:nvPr/>
        </p:nvPicPr>
        <p:blipFill>
          <a:blip r:embed="rId6"/>
          <a:stretch>
            <a:fillRect/>
          </a:stretch>
        </p:blipFill>
        <p:spPr>
          <a:xfrm>
            <a:off x="6823710" y="4766310"/>
            <a:ext cx="388620" cy="388620"/>
          </a:xfrm>
          <a:prstGeom prst="rect">
            <a:avLst/>
          </a:prstGeom>
        </p:spPr>
      </p:pic>
      <p:sp>
        <p:nvSpPr>
          <p:cNvPr id="22" name="Text 16"/>
          <p:cNvSpPr/>
          <p:nvPr/>
        </p:nvSpPr>
        <p:spPr>
          <a:xfrm>
            <a:off x="7635240" y="4526280"/>
            <a:ext cx="3794760" cy="411480"/>
          </a:xfrm>
          <a:prstGeom prst="rect">
            <a:avLst/>
          </a:prstGeom>
          <a:noFill/>
          <a:ln/>
        </p:spPr>
        <p:txBody>
          <a:bodyPr wrap="square" rtlCol="0" anchor="ctr"/>
          <a:lstStyle/>
          <a:p>
            <a:pPr marL="0" indent="0">
              <a:buNone/>
            </a:pPr>
            <a:r>
              <a:rPr lang="en-US" sz="1700" b="1" dirty="0">
                <a:solidFill>
                  <a:srgbClr val="1B2A4A"/>
                </a:solidFill>
                <a:latin typeface="Times New Roman" panose="02020603050405020304" pitchFamily="18" charset="0"/>
                <a:ea typeface="Calibri" pitchFamily="34" charset="-122"/>
                <a:cs typeface="Times New Roman" panose="02020603050405020304" pitchFamily="18" charset="0"/>
              </a:rPr>
              <a:t>Capacitive Divider</a:t>
            </a:r>
            <a:endParaRPr lang="en-US" sz="1700" dirty="0">
              <a:latin typeface="Times New Roman" panose="02020603050405020304" pitchFamily="18" charset="0"/>
              <a:cs typeface="Times New Roman" panose="02020603050405020304" pitchFamily="18" charset="0"/>
            </a:endParaRPr>
          </a:p>
        </p:txBody>
      </p:sp>
      <p:sp>
        <p:nvSpPr>
          <p:cNvPr id="23" name="Text 17"/>
          <p:cNvSpPr/>
          <p:nvPr/>
        </p:nvSpPr>
        <p:spPr>
          <a:xfrm>
            <a:off x="7635240" y="4965192"/>
            <a:ext cx="3794760" cy="1051560"/>
          </a:xfrm>
          <a:prstGeom prst="rect">
            <a:avLst/>
          </a:prstGeom>
          <a:noFill/>
          <a:ln/>
        </p:spPr>
        <p:txBody>
          <a:bodyPr wrap="square" rtlCol="0" anchor="t"/>
          <a:lstStyle/>
          <a:p>
            <a:pPr marL="0" indent="0">
              <a:lnSpc>
                <a:spcPct val="115000"/>
              </a:lnSpc>
              <a:buNone/>
            </a:pPr>
            <a:r>
              <a:rPr lang="en-US" sz="1250" dirty="0">
                <a:solidFill>
                  <a:srgbClr val="5C6B7A"/>
                </a:solidFill>
                <a:latin typeface="Times New Roman" panose="02020603050405020304" pitchFamily="18" charset="0"/>
                <a:ea typeface="Calibri" pitchFamily="34" charset="-122"/>
                <a:cs typeface="Times New Roman" panose="02020603050405020304" pitchFamily="18" charset="0"/>
              </a:rPr>
              <a:t>Uses capacitor pairs to step down very high AC voltages, common in power grids.</a:t>
            </a:r>
            <a:endParaRPr lang="en-US" sz="1250" dirty="0">
              <a:latin typeface="Times New Roman" panose="02020603050405020304" pitchFamily="18" charset="0"/>
              <a:cs typeface="Times New Roman" panose="02020603050405020304" pitchFamily="18" charset="0"/>
            </a:endParaRPr>
          </a:p>
        </p:txBody>
      </p:sp>
      <p:sp>
        <p:nvSpPr>
          <p:cNvPr id="24" name="Text 18"/>
          <p:cNvSpPr/>
          <p:nvPr/>
        </p:nvSpPr>
        <p:spPr>
          <a:xfrm>
            <a:off x="457200" y="6537960"/>
            <a:ext cx="3657600" cy="274320"/>
          </a:xfrm>
          <a:prstGeom prst="rect">
            <a:avLst/>
          </a:prstGeom>
          <a:noFill/>
          <a:ln/>
        </p:spPr>
        <p:txBody>
          <a:bodyPr wrap="square" rtlCol="0" anchor="ctr"/>
          <a:lstStyle/>
          <a:p>
            <a:pPr marL="0" indent="0">
              <a:buNone/>
            </a:pPr>
            <a:r>
              <a:rPr lang="en-US" sz="900" i="1" dirty="0">
                <a:solidFill>
                  <a:srgbClr val="A9B4C2"/>
                </a:solidFill>
                <a:latin typeface="Times New Roman" panose="02020603050405020304" pitchFamily="18" charset="0"/>
                <a:ea typeface="Calibri" pitchFamily="34" charset="-122"/>
                <a:cs typeface="Times New Roman" panose="02020603050405020304" pitchFamily="18" charset="0"/>
              </a:rPr>
              <a:t>VOLTAGE SENSOR</a:t>
            </a:r>
            <a:endParaRPr lang="en-US" sz="900" dirty="0">
              <a:latin typeface="Times New Roman" panose="02020603050405020304" pitchFamily="18" charset="0"/>
              <a:cs typeface="Times New Roman" panose="02020603050405020304" pitchFamily="18" charset="0"/>
            </a:endParaRPr>
          </a:p>
        </p:txBody>
      </p:sp>
      <p:sp>
        <p:nvSpPr>
          <p:cNvPr id="25" name="Text 19"/>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A9B4C2"/>
                </a:solidFill>
                <a:latin typeface="Times New Roman" panose="02020603050405020304" pitchFamily="18" charset="0"/>
                <a:ea typeface="Calibri" pitchFamily="34" charset="-122"/>
                <a:cs typeface="Times New Roman" panose="02020603050405020304" pitchFamily="18" charset="0"/>
              </a:rPr>
              <a:t>5</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Resistive Voltage Divider</a:t>
            </a:r>
            <a:endParaRPr lang="en-US" sz="3000" dirty="0">
              <a:latin typeface="Times New Roman" panose="02020603050405020304" pitchFamily="18" charset="0"/>
              <a:cs typeface="Times New Roman" panose="02020603050405020304" pitchFamily="18" charset="0"/>
            </a:endParaRPr>
          </a:p>
        </p:txBody>
      </p:sp>
      <p:sp>
        <p:nvSpPr>
          <p:cNvPr id="3" name="Shape 1"/>
          <p:cNvSpPr/>
          <p:nvPr/>
        </p:nvSpPr>
        <p:spPr>
          <a:xfrm>
            <a:off x="822960" y="1554480"/>
            <a:ext cx="4754880" cy="4023360"/>
          </a:xfrm>
          <a:prstGeom prst="roundRect">
            <a:avLst>
              <a:gd name="adj" fmla="val 2273"/>
            </a:avLst>
          </a:prstGeom>
          <a:solidFill>
            <a:srgbClr val="F7F9FC"/>
          </a:solidFill>
          <a:ln/>
        </p:spPr>
      </p:sp>
      <p:sp>
        <p:nvSpPr>
          <p:cNvPr id="4" name="Text 2"/>
          <p:cNvSpPr/>
          <p:nvPr/>
        </p:nvSpPr>
        <p:spPr>
          <a:xfrm>
            <a:off x="1097280" y="1783080"/>
            <a:ext cx="914400" cy="320040"/>
          </a:xfrm>
          <a:prstGeom prst="rect">
            <a:avLst/>
          </a:prstGeom>
          <a:noFill/>
          <a:ln/>
        </p:spPr>
        <p:txBody>
          <a:bodyPr wrap="square" rtlCol="0" anchor="ctr"/>
          <a:lstStyle/>
          <a:p>
            <a:pPr marL="0" indent="0">
              <a:buNone/>
            </a:pPr>
            <a:r>
              <a:rPr lang="en-US" sz="1300" b="1" dirty="0">
                <a:solidFill>
                  <a:srgbClr val="1B2A4A"/>
                </a:solidFill>
                <a:latin typeface="Times New Roman" panose="02020603050405020304" pitchFamily="18" charset="0"/>
                <a:ea typeface="Calibri" pitchFamily="34" charset="-122"/>
                <a:cs typeface="Times New Roman" panose="02020603050405020304" pitchFamily="18" charset="0"/>
              </a:rPr>
              <a:t>Vin</a:t>
            </a:r>
            <a:endParaRPr lang="en-US" sz="1300" dirty="0">
              <a:latin typeface="Times New Roman" panose="02020603050405020304" pitchFamily="18" charset="0"/>
              <a:cs typeface="Times New Roman" panose="02020603050405020304" pitchFamily="18" charset="0"/>
            </a:endParaRPr>
          </a:p>
        </p:txBody>
      </p:sp>
      <p:sp>
        <p:nvSpPr>
          <p:cNvPr id="5" name="Shape 3"/>
          <p:cNvSpPr/>
          <p:nvPr/>
        </p:nvSpPr>
        <p:spPr>
          <a:xfrm>
            <a:off x="1645920" y="1965960"/>
            <a:ext cx="0" cy="502920"/>
          </a:xfrm>
          <a:prstGeom prst="line">
            <a:avLst/>
          </a:prstGeom>
          <a:noFill/>
          <a:ln w="25400">
            <a:solidFill>
              <a:srgbClr val="3E6D9C"/>
            </a:solidFill>
            <a:prstDash val="solid"/>
          </a:ln>
        </p:spPr>
      </p:sp>
      <p:sp>
        <p:nvSpPr>
          <p:cNvPr id="6" name="Shape 4"/>
          <p:cNvSpPr/>
          <p:nvPr/>
        </p:nvSpPr>
        <p:spPr>
          <a:xfrm>
            <a:off x="1371600" y="2468880"/>
            <a:ext cx="548640" cy="822960"/>
          </a:xfrm>
          <a:prstGeom prst="rect">
            <a:avLst/>
          </a:prstGeom>
          <a:solidFill>
            <a:srgbClr val="3E6D9C"/>
          </a:solidFill>
          <a:ln/>
        </p:spPr>
      </p:sp>
      <p:sp>
        <p:nvSpPr>
          <p:cNvPr id="7" name="Text 5"/>
          <p:cNvSpPr/>
          <p:nvPr/>
        </p:nvSpPr>
        <p:spPr>
          <a:xfrm>
            <a:off x="2011680" y="2697480"/>
            <a:ext cx="731520" cy="365760"/>
          </a:xfrm>
          <a:prstGeom prst="rect">
            <a:avLst/>
          </a:prstGeom>
          <a:noFill/>
          <a:ln/>
        </p:spPr>
        <p:txBody>
          <a:bodyPr wrap="square" rtlCol="0" anchor="ctr"/>
          <a:lstStyle/>
          <a:p>
            <a:pPr marL="0" indent="0">
              <a:buNone/>
            </a:pPr>
            <a:r>
              <a:rPr lang="en-US" sz="1200" b="1" dirty="0">
                <a:solidFill>
                  <a:srgbClr val="1B2A4A"/>
                </a:solidFill>
                <a:latin typeface="Times New Roman" panose="02020603050405020304" pitchFamily="18" charset="0"/>
                <a:ea typeface="Calibri" pitchFamily="34" charset="-122"/>
                <a:cs typeface="Times New Roman" panose="02020603050405020304" pitchFamily="18" charset="0"/>
              </a:rPr>
              <a:t>R1</a:t>
            </a:r>
            <a:endParaRPr lang="en-US" sz="1200" dirty="0">
              <a:latin typeface="Times New Roman" panose="02020603050405020304" pitchFamily="18" charset="0"/>
              <a:cs typeface="Times New Roman" panose="02020603050405020304" pitchFamily="18" charset="0"/>
            </a:endParaRPr>
          </a:p>
        </p:txBody>
      </p:sp>
      <p:sp>
        <p:nvSpPr>
          <p:cNvPr id="8" name="Shape 6"/>
          <p:cNvSpPr/>
          <p:nvPr/>
        </p:nvSpPr>
        <p:spPr>
          <a:xfrm>
            <a:off x="1645920" y="3291840"/>
            <a:ext cx="0" cy="502920"/>
          </a:xfrm>
          <a:prstGeom prst="line">
            <a:avLst/>
          </a:prstGeom>
          <a:noFill/>
          <a:ln w="25400">
            <a:solidFill>
              <a:srgbClr val="3E6D9C"/>
            </a:solidFill>
            <a:prstDash val="solid"/>
          </a:ln>
        </p:spPr>
      </p:sp>
      <p:sp>
        <p:nvSpPr>
          <p:cNvPr id="9" name="Shape 7"/>
          <p:cNvSpPr/>
          <p:nvPr/>
        </p:nvSpPr>
        <p:spPr>
          <a:xfrm>
            <a:off x="1572768" y="3749040"/>
            <a:ext cx="146304" cy="146304"/>
          </a:xfrm>
          <a:prstGeom prst="ellipse">
            <a:avLst/>
          </a:prstGeom>
          <a:solidFill>
            <a:srgbClr val="FFB627"/>
          </a:solidFill>
          <a:ln/>
        </p:spPr>
      </p:sp>
      <p:sp>
        <p:nvSpPr>
          <p:cNvPr id="10" name="Text 8"/>
          <p:cNvSpPr/>
          <p:nvPr/>
        </p:nvSpPr>
        <p:spPr>
          <a:xfrm>
            <a:off x="1874520" y="3639312"/>
            <a:ext cx="1097280" cy="365760"/>
          </a:xfrm>
          <a:prstGeom prst="rect">
            <a:avLst/>
          </a:prstGeom>
          <a:noFill/>
          <a:ln/>
        </p:spPr>
        <p:txBody>
          <a:bodyPr wrap="square" rtlCol="0" anchor="ctr"/>
          <a:lstStyle/>
          <a:p>
            <a:pPr marL="0" indent="0">
              <a:buNone/>
            </a:pPr>
            <a:r>
              <a:rPr lang="en-US" sz="1300" b="1" dirty="0">
                <a:solidFill>
                  <a:srgbClr val="B8790A"/>
                </a:solidFill>
                <a:latin typeface="Times New Roman" panose="02020603050405020304" pitchFamily="18" charset="0"/>
                <a:ea typeface="Calibri" pitchFamily="34" charset="-122"/>
                <a:cs typeface="Times New Roman" panose="02020603050405020304" pitchFamily="18" charset="0"/>
              </a:rPr>
              <a:t>Vout</a:t>
            </a:r>
            <a:endParaRPr lang="en-US" sz="1300" dirty="0">
              <a:latin typeface="Times New Roman" panose="02020603050405020304" pitchFamily="18" charset="0"/>
              <a:cs typeface="Times New Roman" panose="02020603050405020304" pitchFamily="18" charset="0"/>
            </a:endParaRPr>
          </a:p>
        </p:txBody>
      </p:sp>
      <p:sp>
        <p:nvSpPr>
          <p:cNvPr id="11" name="Shape 9"/>
          <p:cNvSpPr/>
          <p:nvPr/>
        </p:nvSpPr>
        <p:spPr>
          <a:xfrm>
            <a:off x="4754880" y="3822192"/>
            <a:ext cx="640080" cy="0"/>
          </a:xfrm>
          <a:prstGeom prst="line">
            <a:avLst/>
          </a:prstGeom>
          <a:noFill/>
          <a:ln w="25400">
            <a:solidFill>
              <a:srgbClr val="FFB627"/>
            </a:solidFill>
            <a:prstDash val="dash"/>
          </a:ln>
        </p:spPr>
      </p:sp>
      <p:sp>
        <p:nvSpPr>
          <p:cNvPr id="12" name="Text 10"/>
          <p:cNvSpPr/>
          <p:nvPr/>
        </p:nvSpPr>
        <p:spPr>
          <a:xfrm>
            <a:off x="3840480" y="3977640"/>
            <a:ext cx="1645920" cy="274320"/>
          </a:xfrm>
          <a:prstGeom prst="rect">
            <a:avLst/>
          </a:prstGeom>
          <a:noFill/>
          <a:ln/>
        </p:spPr>
        <p:txBody>
          <a:bodyPr wrap="square" rtlCol="0" anchor="ctr"/>
          <a:lstStyle/>
          <a:p>
            <a:pPr marL="0" indent="0">
              <a:buNone/>
            </a:pPr>
            <a:r>
              <a:rPr lang="en-US" sz="950" i="1" dirty="0">
                <a:solidFill>
                  <a:srgbClr val="5C6B7A"/>
                </a:solidFill>
                <a:latin typeface="Times New Roman" panose="02020603050405020304" pitchFamily="18" charset="0"/>
                <a:ea typeface="Calibri" pitchFamily="34" charset="-122"/>
                <a:cs typeface="Times New Roman" panose="02020603050405020304" pitchFamily="18" charset="0"/>
              </a:rPr>
              <a:t>to controller / meter</a:t>
            </a:r>
            <a:endParaRPr lang="en-US" sz="950" dirty="0">
              <a:latin typeface="Times New Roman" panose="02020603050405020304" pitchFamily="18" charset="0"/>
              <a:cs typeface="Times New Roman" panose="02020603050405020304" pitchFamily="18" charset="0"/>
            </a:endParaRPr>
          </a:p>
        </p:txBody>
      </p:sp>
      <p:sp>
        <p:nvSpPr>
          <p:cNvPr id="13" name="Shape 11"/>
          <p:cNvSpPr/>
          <p:nvPr/>
        </p:nvSpPr>
        <p:spPr>
          <a:xfrm>
            <a:off x="1645920" y="3895344"/>
            <a:ext cx="0" cy="365760"/>
          </a:xfrm>
          <a:prstGeom prst="line">
            <a:avLst/>
          </a:prstGeom>
          <a:noFill/>
          <a:ln w="25400">
            <a:solidFill>
              <a:srgbClr val="3E6D9C"/>
            </a:solidFill>
            <a:prstDash val="solid"/>
          </a:ln>
        </p:spPr>
      </p:sp>
      <p:sp>
        <p:nvSpPr>
          <p:cNvPr id="14" name="Shape 12"/>
          <p:cNvSpPr/>
          <p:nvPr/>
        </p:nvSpPr>
        <p:spPr>
          <a:xfrm>
            <a:off x="1371600" y="4261104"/>
            <a:ext cx="548640" cy="822960"/>
          </a:xfrm>
          <a:prstGeom prst="rect">
            <a:avLst/>
          </a:prstGeom>
          <a:solidFill>
            <a:srgbClr val="3E6D9C"/>
          </a:solidFill>
          <a:ln/>
        </p:spPr>
      </p:sp>
      <p:sp>
        <p:nvSpPr>
          <p:cNvPr id="15" name="Text 13"/>
          <p:cNvSpPr/>
          <p:nvPr/>
        </p:nvSpPr>
        <p:spPr>
          <a:xfrm>
            <a:off x="2011680" y="4480560"/>
            <a:ext cx="731520" cy="365760"/>
          </a:xfrm>
          <a:prstGeom prst="rect">
            <a:avLst/>
          </a:prstGeom>
          <a:noFill/>
          <a:ln/>
        </p:spPr>
        <p:txBody>
          <a:bodyPr wrap="square" rtlCol="0" anchor="ctr"/>
          <a:lstStyle/>
          <a:p>
            <a:pPr marL="0" indent="0">
              <a:buNone/>
            </a:pPr>
            <a:r>
              <a:rPr lang="en-US" sz="1200" b="1" dirty="0">
                <a:solidFill>
                  <a:srgbClr val="1B2A4A"/>
                </a:solidFill>
                <a:latin typeface="Times New Roman" panose="02020603050405020304" pitchFamily="18" charset="0"/>
                <a:ea typeface="Calibri" pitchFamily="34" charset="-122"/>
                <a:cs typeface="Times New Roman" panose="02020603050405020304" pitchFamily="18" charset="0"/>
              </a:rPr>
              <a:t>R2</a:t>
            </a:r>
            <a:endParaRPr lang="en-US" sz="1200" dirty="0">
              <a:latin typeface="Times New Roman" panose="02020603050405020304" pitchFamily="18" charset="0"/>
              <a:cs typeface="Times New Roman" panose="02020603050405020304" pitchFamily="18" charset="0"/>
            </a:endParaRPr>
          </a:p>
        </p:txBody>
      </p:sp>
      <p:sp>
        <p:nvSpPr>
          <p:cNvPr id="16" name="Shape 14"/>
          <p:cNvSpPr/>
          <p:nvPr/>
        </p:nvSpPr>
        <p:spPr>
          <a:xfrm>
            <a:off x="1645920" y="5084064"/>
            <a:ext cx="0" cy="365760"/>
          </a:xfrm>
          <a:prstGeom prst="line">
            <a:avLst/>
          </a:prstGeom>
          <a:noFill/>
          <a:ln w="25400">
            <a:solidFill>
              <a:srgbClr val="3E6D9C"/>
            </a:solidFill>
            <a:prstDash val="solid"/>
          </a:ln>
        </p:spPr>
      </p:sp>
      <p:sp>
        <p:nvSpPr>
          <p:cNvPr id="17" name="Text 15"/>
          <p:cNvSpPr/>
          <p:nvPr/>
        </p:nvSpPr>
        <p:spPr>
          <a:xfrm>
            <a:off x="1280160" y="5468112"/>
            <a:ext cx="914400" cy="274320"/>
          </a:xfrm>
          <a:prstGeom prst="rect">
            <a:avLst/>
          </a:prstGeom>
          <a:noFill/>
          <a:ln/>
        </p:spPr>
        <p:txBody>
          <a:bodyPr wrap="square" rtlCol="0" anchor="ctr"/>
          <a:lstStyle/>
          <a:p>
            <a:pPr marL="0" indent="0">
              <a:buNone/>
            </a:pPr>
            <a:r>
              <a:rPr lang="en-US" sz="1100" dirty="0">
                <a:solidFill>
                  <a:srgbClr val="5C6B7A"/>
                </a:solidFill>
                <a:latin typeface="Times New Roman" panose="02020603050405020304" pitchFamily="18" charset="0"/>
                <a:ea typeface="Calibri" pitchFamily="34" charset="-122"/>
                <a:cs typeface="Times New Roman" panose="02020603050405020304" pitchFamily="18" charset="0"/>
              </a:rPr>
              <a:t>GND</a:t>
            </a:r>
            <a:endParaRPr lang="en-US" sz="1100" dirty="0">
              <a:latin typeface="Times New Roman" panose="02020603050405020304" pitchFamily="18" charset="0"/>
              <a:cs typeface="Times New Roman" panose="02020603050405020304" pitchFamily="18" charset="0"/>
            </a:endParaRPr>
          </a:p>
        </p:txBody>
      </p:sp>
      <p:sp>
        <p:nvSpPr>
          <p:cNvPr id="18" name="Text 16"/>
          <p:cNvSpPr/>
          <p:nvPr/>
        </p:nvSpPr>
        <p:spPr>
          <a:xfrm>
            <a:off x="1097280" y="4800600"/>
            <a:ext cx="4206240" cy="365760"/>
          </a:xfrm>
          <a:prstGeom prst="rect">
            <a:avLst/>
          </a:prstGeom>
          <a:noFill/>
          <a:ln/>
        </p:spPr>
        <p:txBody>
          <a:bodyPr wrap="square" rtlCol="0" anchor="ctr"/>
          <a:lstStyle/>
          <a:p>
            <a:pPr marL="0" indent="0" algn="r">
              <a:buNone/>
            </a:pPr>
            <a:r>
              <a:rPr lang="en-US" sz="1250" i="1" dirty="0">
                <a:solidFill>
                  <a:srgbClr val="1B2A4A"/>
                </a:solidFill>
                <a:latin typeface="Times New Roman" panose="02020603050405020304" pitchFamily="18" charset="0"/>
                <a:ea typeface="Calibri" pitchFamily="34" charset="-122"/>
                <a:cs typeface="Times New Roman" panose="02020603050405020304" pitchFamily="18" charset="0"/>
              </a:rPr>
              <a:t>Vout = Vin × R2 / (R1 + R2)</a:t>
            </a:r>
            <a:endParaRPr lang="en-US" sz="1250" dirty="0">
              <a:latin typeface="Times New Roman" panose="02020603050405020304" pitchFamily="18" charset="0"/>
              <a:cs typeface="Times New Roman" panose="02020603050405020304" pitchFamily="18" charset="0"/>
            </a:endParaRPr>
          </a:p>
        </p:txBody>
      </p:sp>
      <p:sp>
        <p:nvSpPr>
          <p:cNvPr id="19" name="Text 17"/>
          <p:cNvSpPr/>
          <p:nvPr/>
        </p:nvSpPr>
        <p:spPr>
          <a:xfrm>
            <a:off x="5943600" y="1737360"/>
            <a:ext cx="5669280" cy="3657600"/>
          </a:xfrm>
          <a:prstGeom prst="rect">
            <a:avLst/>
          </a:prstGeom>
          <a:noFill/>
          <a:ln/>
        </p:spPr>
        <p:txBody>
          <a:bodyPr wrap="square" rtlCol="0" anchor="t"/>
          <a:lstStyle/>
          <a:p>
            <a:pPr marL="342900" indent="-342900">
              <a:lnSpc>
                <a:spcPct val="115000"/>
              </a:lnSpc>
              <a:spcAft>
                <a:spcPts val="1000"/>
              </a:spcAft>
              <a:buSzPct val="100000"/>
              <a:buChar char="•"/>
            </a:pPr>
            <a:r>
              <a:rPr lang="en-US" sz="1400" dirty="0">
                <a:solidFill>
                  <a:srgbClr val="1B2A4A"/>
                </a:solidFill>
                <a:latin typeface="Times New Roman" panose="02020603050405020304" pitchFamily="18" charset="0"/>
                <a:ea typeface="Calibri" pitchFamily="34" charset="-122"/>
                <a:cs typeface="Times New Roman" panose="02020603050405020304" pitchFamily="18" charset="0"/>
              </a:rPr>
              <a:t>The simplest and most widely used method for scaling down DC or AC voltage.</a:t>
            </a:r>
            <a:endParaRPr lang="en-US" sz="1400" dirty="0">
              <a:latin typeface="Times New Roman" panose="02020603050405020304" pitchFamily="18" charset="0"/>
              <a:cs typeface="Times New Roman" panose="02020603050405020304" pitchFamily="18" charset="0"/>
            </a:endParaRPr>
          </a:p>
          <a:p>
            <a:pPr marL="342900" indent="-342900">
              <a:lnSpc>
                <a:spcPct val="115000"/>
              </a:lnSpc>
              <a:spcAft>
                <a:spcPts val="1000"/>
              </a:spcAft>
              <a:buSzPct val="100000"/>
              <a:buChar char="•"/>
            </a:pPr>
            <a:r>
              <a:rPr lang="en-US" sz="1400" dirty="0">
                <a:solidFill>
                  <a:srgbClr val="1B2A4A"/>
                </a:solidFill>
                <a:latin typeface="Times New Roman" panose="02020603050405020304" pitchFamily="18" charset="0"/>
                <a:ea typeface="Calibri" pitchFamily="34" charset="-122"/>
                <a:cs typeface="Times New Roman" panose="02020603050405020304" pitchFamily="18" charset="0"/>
              </a:rPr>
              <a:t>Two resistors form a series circuit; output is tapped between them.</a:t>
            </a:r>
            <a:endParaRPr lang="en-US" sz="1400" dirty="0">
              <a:latin typeface="Times New Roman" panose="02020603050405020304" pitchFamily="18" charset="0"/>
              <a:cs typeface="Times New Roman" panose="02020603050405020304" pitchFamily="18" charset="0"/>
            </a:endParaRPr>
          </a:p>
          <a:p>
            <a:pPr marL="342900" indent="-342900">
              <a:lnSpc>
                <a:spcPct val="115000"/>
              </a:lnSpc>
              <a:spcAft>
                <a:spcPts val="1000"/>
              </a:spcAft>
              <a:buSzPct val="100000"/>
              <a:buChar char="•"/>
            </a:pPr>
            <a:r>
              <a:rPr lang="en-US" sz="1400" dirty="0">
                <a:solidFill>
                  <a:srgbClr val="1B2A4A"/>
                </a:solidFill>
                <a:latin typeface="Times New Roman" panose="02020603050405020304" pitchFamily="18" charset="0"/>
                <a:ea typeface="Calibri" pitchFamily="34" charset="-122"/>
                <a:cs typeface="Times New Roman" panose="02020603050405020304" pitchFamily="18" charset="0"/>
              </a:rPr>
              <a:t>Low cost and simple to design, but offers no electrical isolation.</a:t>
            </a:r>
            <a:endParaRPr lang="en-US" sz="1400" dirty="0">
              <a:latin typeface="Times New Roman" panose="02020603050405020304" pitchFamily="18" charset="0"/>
              <a:cs typeface="Times New Roman" panose="02020603050405020304" pitchFamily="18" charset="0"/>
            </a:endParaRPr>
          </a:p>
          <a:p>
            <a:pPr marL="342900" indent="-342900">
              <a:lnSpc>
                <a:spcPct val="115000"/>
              </a:lnSpc>
              <a:buSzPct val="100000"/>
              <a:buChar char="•"/>
            </a:pPr>
            <a:r>
              <a:rPr lang="en-US" sz="1400" dirty="0">
                <a:solidFill>
                  <a:srgbClr val="1B2A4A"/>
                </a:solidFill>
                <a:latin typeface="Times New Roman" panose="02020603050405020304" pitchFamily="18" charset="0"/>
                <a:ea typeface="Calibri" pitchFamily="34" charset="-122"/>
                <a:cs typeface="Times New Roman" panose="02020603050405020304" pitchFamily="18" charset="0"/>
              </a:rPr>
              <a:t>Best suited for low-to-medium voltage measurement in circuits and boards.</a:t>
            </a:r>
            <a:endParaRPr lang="en-US" sz="1400" dirty="0">
              <a:latin typeface="Times New Roman" panose="02020603050405020304" pitchFamily="18" charset="0"/>
              <a:cs typeface="Times New Roman" panose="02020603050405020304" pitchFamily="18" charset="0"/>
            </a:endParaRPr>
          </a:p>
        </p:txBody>
      </p:sp>
      <p:sp>
        <p:nvSpPr>
          <p:cNvPr id="20" name="Text 18"/>
          <p:cNvSpPr/>
          <p:nvPr/>
        </p:nvSpPr>
        <p:spPr>
          <a:xfrm>
            <a:off x="457200" y="6537960"/>
            <a:ext cx="3657600" cy="274320"/>
          </a:xfrm>
          <a:prstGeom prst="rect">
            <a:avLst/>
          </a:prstGeom>
          <a:noFill/>
          <a:ln/>
        </p:spPr>
        <p:txBody>
          <a:bodyPr wrap="square" rtlCol="0" anchor="ctr"/>
          <a:lstStyle/>
          <a:p>
            <a:pPr marL="0" indent="0">
              <a:buNone/>
            </a:pPr>
            <a:r>
              <a:rPr lang="en-US" sz="900" i="1" dirty="0">
                <a:solidFill>
                  <a:srgbClr val="A9B4C2"/>
                </a:solidFill>
                <a:latin typeface="Times New Roman" panose="02020603050405020304" pitchFamily="18" charset="0"/>
                <a:ea typeface="Calibri" pitchFamily="34" charset="-122"/>
                <a:cs typeface="Times New Roman" panose="02020603050405020304" pitchFamily="18" charset="0"/>
              </a:rPr>
              <a:t>VOLTAGE SENSOR</a:t>
            </a:r>
            <a:endParaRPr lang="en-US" sz="900" dirty="0">
              <a:latin typeface="Times New Roman" panose="02020603050405020304" pitchFamily="18" charset="0"/>
              <a:cs typeface="Times New Roman" panose="02020603050405020304" pitchFamily="18" charset="0"/>
            </a:endParaRPr>
          </a:p>
        </p:txBody>
      </p:sp>
      <p:sp>
        <p:nvSpPr>
          <p:cNvPr id="21" name="Text 19"/>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A9B4C2"/>
                </a:solidFill>
                <a:latin typeface="Times New Roman" panose="02020603050405020304" pitchFamily="18" charset="0"/>
                <a:ea typeface="Calibri" pitchFamily="34" charset="-122"/>
                <a:cs typeface="Times New Roman" panose="02020603050405020304" pitchFamily="18" charset="0"/>
              </a:rPr>
              <a:t>6</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Hall Effect Voltage Sensor</a:t>
            </a:r>
            <a:endParaRPr lang="en-US" sz="3000" dirty="0">
              <a:latin typeface="Times New Roman" panose="02020603050405020304" pitchFamily="18" charset="0"/>
              <a:cs typeface="Times New Roman" panose="02020603050405020304" pitchFamily="18" charset="0"/>
            </a:endParaRPr>
          </a:p>
        </p:txBody>
      </p:sp>
      <p:sp>
        <p:nvSpPr>
          <p:cNvPr id="3" name="Shape 1"/>
          <p:cNvSpPr/>
          <p:nvPr/>
        </p:nvSpPr>
        <p:spPr>
          <a:xfrm>
            <a:off x="822960" y="1645920"/>
            <a:ext cx="4754880" cy="3840480"/>
          </a:xfrm>
          <a:prstGeom prst="roundRect">
            <a:avLst>
              <a:gd name="adj" fmla="val 2857"/>
            </a:avLst>
          </a:prstGeom>
          <a:solidFill>
            <a:srgbClr val="F7F9FC"/>
          </a:solidFill>
          <a:ln/>
        </p:spPr>
      </p:sp>
      <p:sp>
        <p:nvSpPr>
          <p:cNvPr id="4" name="Shape 2"/>
          <p:cNvSpPr/>
          <p:nvPr/>
        </p:nvSpPr>
        <p:spPr>
          <a:xfrm>
            <a:off x="2377440" y="2743200"/>
            <a:ext cx="1645920" cy="1645920"/>
          </a:xfrm>
          <a:prstGeom prst="ellipse">
            <a:avLst/>
          </a:prstGeom>
          <a:solidFill>
            <a:srgbClr val="3E6D9C"/>
          </a:solidFill>
          <a:ln/>
        </p:spPr>
      </p:sp>
      <p:pic>
        <p:nvPicPr>
          <p:cNvPr id="5" name="Image 0" descr="/home/claude/voltage_sensor/icon_magnet.png"/>
          <p:cNvPicPr>
            <a:picLocks noChangeAspect="1"/>
          </p:cNvPicPr>
          <p:nvPr/>
        </p:nvPicPr>
        <p:blipFill>
          <a:blip r:embed="rId3"/>
          <a:stretch>
            <a:fillRect/>
          </a:stretch>
        </p:blipFill>
        <p:spPr>
          <a:xfrm>
            <a:off x="2788920" y="3154680"/>
            <a:ext cx="822960" cy="822960"/>
          </a:xfrm>
          <a:prstGeom prst="rect">
            <a:avLst/>
          </a:prstGeom>
        </p:spPr>
      </p:pic>
      <p:sp>
        <p:nvSpPr>
          <p:cNvPr id="6" name="Text 3"/>
          <p:cNvSpPr/>
          <p:nvPr/>
        </p:nvSpPr>
        <p:spPr>
          <a:xfrm>
            <a:off x="6309360" y="1737360"/>
            <a:ext cx="5394960" cy="3749040"/>
          </a:xfrm>
          <a:prstGeom prst="rect">
            <a:avLst/>
          </a:prstGeom>
          <a:noFill/>
          <a:ln/>
        </p:spPr>
        <p:txBody>
          <a:bodyPr wrap="square" rtlCol="0" anchor="t"/>
          <a:lstStyle/>
          <a:p>
            <a:pPr marL="342900" indent="-342900">
              <a:lnSpc>
                <a:spcPct val="115000"/>
              </a:lnSpc>
              <a:spcAft>
                <a:spcPts val="1200"/>
              </a:spcAft>
              <a:buSzPct val="100000"/>
              <a:buChar char="•"/>
            </a:pPr>
            <a:r>
              <a:rPr lang="en-US" sz="1450" dirty="0">
                <a:solidFill>
                  <a:srgbClr val="1B2A4A"/>
                </a:solidFill>
                <a:latin typeface="Times New Roman" panose="02020603050405020304" pitchFamily="18" charset="0"/>
                <a:ea typeface="Calibri" pitchFamily="34" charset="-122"/>
                <a:cs typeface="Times New Roman" panose="02020603050405020304" pitchFamily="18" charset="0"/>
              </a:rPr>
              <a:t>Converts the voltage-proportional current into a magnetic field, then measures that field using the Hall effect.</a:t>
            </a:r>
            <a:endParaRPr lang="en-US" sz="1450" dirty="0">
              <a:latin typeface="Times New Roman" panose="02020603050405020304" pitchFamily="18" charset="0"/>
              <a:cs typeface="Times New Roman" panose="02020603050405020304" pitchFamily="18" charset="0"/>
            </a:endParaRPr>
          </a:p>
          <a:p>
            <a:pPr marL="342900" indent="-342900">
              <a:lnSpc>
                <a:spcPct val="115000"/>
              </a:lnSpc>
              <a:spcAft>
                <a:spcPts val="1200"/>
              </a:spcAft>
              <a:buSzPct val="100000"/>
              <a:buChar char="•"/>
            </a:pPr>
            <a:r>
              <a:rPr lang="en-US" sz="1450" dirty="0">
                <a:solidFill>
                  <a:srgbClr val="1B2A4A"/>
                </a:solidFill>
                <a:latin typeface="Times New Roman" panose="02020603050405020304" pitchFamily="18" charset="0"/>
                <a:ea typeface="Calibri" pitchFamily="34" charset="-122"/>
                <a:cs typeface="Times New Roman" panose="02020603050405020304" pitchFamily="18" charset="0"/>
              </a:rPr>
              <a:t>Provides true galvanic isolation — the measuring circuit never touches the high-voltage line.</a:t>
            </a:r>
            <a:endParaRPr lang="en-US" sz="1450" dirty="0">
              <a:latin typeface="Times New Roman" panose="02020603050405020304" pitchFamily="18" charset="0"/>
              <a:cs typeface="Times New Roman" panose="02020603050405020304" pitchFamily="18" charset="0"/>
            </a:endParaRPr>
          </a:p>
          <a:p>
            <a:pPr marL="342900" indent="-342900">
              <a:lnSpc>
                <a:spcPct val="115000"/>
              </a:lnSpc>
              <a:spcAft>
                <a:spcPts val="1200"/>
              </a:spcAft>
              <a:buSzPct val="100000"/>
              <a:buChar char="•"/>
            </a:pPr>
            <a:r>
              <a:rPr lang="en-US" sz="1450" dirty="0">
                <a:solidFill>
                  <a:srgbClr val="1B2A4A"/>
                </a:solidFill>
                <a:latin typeface="Times New Roman" panose="02020603050405020304" pitchFamily="18" charset="0"/>
                <a:ea typeface="Calibri" pitchFamily="34" charset="-122"/>
                <a:cs typeface="Times New Roman" panose="02020603050405020304" pitchFamily="18" charset="0"/>
              </a:rPr>
              <a:t>Handles both AC and DC voltages with excellent linearity and fast response.</a:t>
            </a:r>
            <a:endParaRPr lang="en-US" sz="1450" dirty="0">
              <a:latin typeface="Times New Roman" panose="02020603050405020304" pitchFamily="18" charset="0"/>
              <a:cs typeface="Times New Roman" panose="02020603050405020304" pitchFamily="18" charset="0"/>
            </a:endParaRPr>
          </a:p>
          <a:p>
            <a:pPr marL="342900" indent="-342900">
              <a:lnSpc>
                <a:spcPct val="115000"/>
              </a:lnSpc>
              <a:buSzPct val="100000"/>
              <a:buChar char="•"/>
            </a:pPr>
            <a:r>
              <a:rPr lang="en-US" sz="1450" dirty="0">
                <a:solidFill>
                  <a:srgbClr val="1B2A4A"/>
                </a:solidFill>
                <a:latin typeface="Times New Roman" panose="02020603050405020304" pitchFamily="18" charset="0"/>
                <a:ea typeface="Calibri" pitchFamily="34" charset="-122"/>
                <a:cs typeface="Times New Roman" panose="02020603050405020304" pitchFamily="18" charset="0"/>
              </a:rPr>
              <a:t>Widely used in electric vehicles, power inverters, and industrial drives.</a:t>
            </a:r>
            <a:endParaRPr lang="en-US" sz="1450" dirty="0">
              <a:latin typeface="Times New Roman" panose="02020603050405020304" pitchFamily="18" charset="0"/>
              <a:cs typeface="Times New Roman" panose="02020603050405020304" pitchFamily="18" charset="0"/>
            </a:endParaRPr>
          </a:p>
        </p:txBody>
      </p:sp>
      <p:sp>
        <p:nvSpPr>
          <p:cNvPr id="7" name="Text 4"/>
          <p:cNvSpPr/>
          <p:nvPr/>
        </p:nvSpPr>
        <p:spPr>
          <a:xfrm>
            <a:off x="457200" y="6537960"/>
            <a:ext cx="3657600" cy="274320"/>
          </a:xfrm>
          <a:prstGeom prst="rect">
            <a:avLst/>
          </a:prstGeom>
          <a:noFill/>
          <a:ln/>
        </p:spPr>
        <p:txBody>
          <a:bodyPr wrap="square" rtlCol="0" anchor="ctr"/>
          <a:lstStyle/>
          <a:p>
            <a:pPr marL="0" indent="0">
              <a:buNone/>
            </a:pPr>
            <a:r>
              <a:rPr lang="en-US" sz="900" i="1" dirty="0">
                <a:solidFill>
                  <a:srgbClr val="A9B4C2"/>
                </a:solidFill>
                <a:latin typeface="Times New Roman" panose="02020603050405020304" pitchFamily="18" charset="0"/>
                <a:ea typeface="Calibri" pitchFamily="34" charset="-122"/>
                <a:cs typeface="Times New Roman" panose="02020603050405020304" pitchFamily="18" charset="0"/>
              </a:rPr>
              <a:t>VOLTAGE SENSOR</a:t>
            </a:r>
            <a:endParaRPr lang="en-US" sz="900" dirty="0">
              <a:latin typeface="Times New Roman" panose="02020603050405020304" pitchFamily="18" charset="0"/>
              <a:cs typeface="Times New Roman" panose="02020603050405020304" pitchFamily="18" charset="0"/>
            </a:endParaRPr>
          </a:p>
        </p:txBody>
      </p:sp>
      <p:sp>
        <p:nvSpPr>
          <p:cNvPr id="8" name="Text 5"/>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A9B4C2"/>
                </a:solidFill>
                <a:latin typeface="Times New Roman" panose="02020603050405020304" pitchFamily="18" charset="0"/>
                <a:ea typeface="Calibri" pitchFamily="34" charset="-122"/>
                <a:cs typeface="Times New Roman" panose="02020603050405020304" pitchFamily="18" charset="0"/>
              </a:rPr>
              <a:t>7</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Optical &amp; Isolation Amplifier Sensors</a:t>
            </a:r>
            <a:endParaRPr lang="en-US" sz="3000" dirty="0">
              <a:latin typeface="Times New Roman" panose="02020603050405020304" pitchFamily="18" charset="0"/>
              <a:cs typeface="Times New Roman" panose="02020603050405020304" pitchFamily="18" charset="0"/>
            </a:endParaRPr>
          </a:p>
        </p:txBody>
      </p:sp>
      <p:sp>
        <p:nvSpPr>
          <p:cNvPr id="3" name="Shape 1"/>
          <p:cNvSpPr/>
          <p:nvPr/>
        </p:nvSpPr>
        <p:spPr>
          <a:xfrm>
            <a:off x="822960" y="1645920"/>
            <a:ext cx="4754880" cy="3840480"/>
          </a:xfrm>
          <a:prstGeom prst="roundRect">
            <a:avLst>
              <a:gd name="adj" fmla="val 2857"/>
            </a:avLst>
          </a:prstGeom>
          <a:solidFill>
            <a:srgbClr val="F7F9FC"/>
          </a:solidFill>
          <a:ln/>
        </p:spPr>
      </p:sp>
      <p:sp>
        <p:nvSpPr>
          <p:cNvPr id="4" name="Shape 2"/>
          <p:cNvSpPr/>
          <p:nvPr/>
        </p:nvSpPr>
        <p:spPr>
          <a:xfrm>
            <a:off x="2377440" y="2743200"/>
            <a:ext cx="1645920" cy="1645920"/>
          </a:xfrm>
          <a:prstGeom prst="ellipse">
            <a:avLst/>
          </a:prstGeom>
          <a:solidFill>
            <a:srgbClr val="FFB627"/>
          </a:solidFill>
          <a:ln/>
        </p:spPr>
      </p:sp>
      <p:pic>
        <p:nvPicPr>
          <p:cNvPr id="5" name="Image 0" descr="/home/claude/voltage_sensor/icon_bulb.png"/>
          <p:cNvPicPr>
            <a:picLocks noChangeAspect="1"/>
          </p:cNvPicPr>
          <p:nvPr/>
        </p:nvPicPr>
        <p:blipFill>
          <a:blip r:embed="rId3"/>
          <a:stretch>
            <a:fillRect/>
          </a:stretch>
        </p:blipFill>
        <p:spPr>
          <a:xfrm>
            <a:off x="2788920" y="3154680"/>
            <a:ext cx="822960" cy="822960"/>
          </a:xfrm>
          <a:prstGeom prst="rect">
            <a:avLst/>
          </a:prstGeom>
        </p:spPr>
      </p:pic>
      <p:sp>
        <p:nvSpPr>
          <p:cNvPr id="6" name="Text 3"/>
          <p:cNvSpPr/>
          <p:nvPr/>
        </p:nvSpPr>
        <p:spPr>
          <a:xfrm>
            <a:off x="6309360" y="1737360"/>
            <a:ext cx="5394960" cy="3749040"/>
          </a:xfrm>
          <a:prstGeom prst="rect">
            <a:avLst/>
          </a:prstGeom>
          <a:noFill/>
          <a:ln/>
        </p:spPr>
        <p:txBody>
          <a:bodyPr wrap="square" rtlCol="0" anchor="t"/>
          <a:lstStyle/>
          <a:p>
            <a:pPr marL="342900" indent="-342900">
              <a:lnSpc>
                <a:spcPct val="115000"/>
              </a:lnSpc>
              <a:spcAft>
                <a:spcPts val="1200"/>
              </a:spcAft>
              <a:buSzPct val="100000"/>
              <a:buChar char="•"/>
            </a:pPr>
            <a:r>
              <a:rPr lang="en-US" sz="1450" dirty="0">
                <a:solidFill>
                  <a:srgbClr val="1B2A4A"/>
                </a:solidFill>
                <a:latin typeface="Times New Roman" panose="02020603050405020304" pitchFamily="18" charset="0"/>
                <a:ea typeface="Calibri" pitchFamily="34" charset="-122"/>
                <a:cs typeface="Times New Roman" panose="02020603050405020304" pitchFamily="18" charset="0"/>
              </a:rPr>
              <a:t>Converts the voltage signal into light using an LED, sends it across an optical barrier, then reconverts it to an electrical signal.</a:t>
            </a:r>
            <a:endParaRPr lang="en-US" sz="1450" dirty="0">
              <a:latin typeface="Times New Roman" panose="02020603050405020304" pitchFamily="18" charset="0"/>
              <a:cs typeface="Times New Roman" panose="02020603050405020304" pitchFamily="18" charset="0"/>
            </a:endParaRPr>
          </a:p>
          <a:p>
            <a:pPr marL="342900" indent="-342900">
              <a:lnSpc>
                <a:spcPct val="115000"/>
              </a:lnSpc>
              <a:spcAft>
                <a:spcPts val="1200"/>
              </a:spcAft>
              <a:buSzPct val="100000"/>
              <a:buChar char="•"/>
            </a:pPr>
            <a:r>
              <a:rPr lang="en-US" sz="1450" dirty="0">
                <a:solidFill>
                  <a:srgbClr val="1B2A4A"/>
                </a:solidFill>
                <a:latin typeface="Times New Roman" panose="02020603050405020304" pitchFamily="18" charset="0"/>
                <a:ea typeface="Calibri" pitchFamily="34" charset="-122"/>
                <a:cs typeface="Times New Roman" panose="02020603050405020304" pitchFamily="18" charset="0"/>
              </a:rPr>
              <a:t>Offers the highest level of electrical isolation between the high-voltage side and the measurement circuit.</a:t>
            </a:r>
            <a:endParaRPr lang="en-US" sz="1450" dirty="0">
              <a:latin typeface="Times New Roman" panose="02020603050405020304" pitchFamily="18" charset="0"/>
              <a:cs typeface="Times New Roman" panose="02020603050405020304" pitchFamily="18" charset="0"/>
            </a:endParaRPr>
          </a:p>
          <a:p>
            <a:pPr marL="342900" indent="-342900">
              <a:lnSpc>
                <a:spcPct val="115000"/>
              </a:lnSpc>
              <a:spcAft>
                <a:spcPts val="1200"/>
              </a:spcAft>
              <a:buSzPct val="100000"/>
              <a:buChar char="•"/>
            </a:pPr>
            <a:r>
              <a:rPr lang="en-US" sz="1450" dirty="0">
                <a:solidFill>
                  <a:srgbClr val="1B2A4A"/>
                </a:solidFill>
                <a:latin typeface="Times New Roman" panose="02020603050405020304" pitchFamily="18" charset="0"/>
                <a:ea typeface="Calibri" pitchFamily="34" charset="-122"/>
                <a:cs typeface="Times New Roman" panose="02020603050405020304" pitchFamily="18" charset="0"/>
              </a:rPr>
              <a:t>Isolation amplifiers achieve a similar result electronically, without an optical link.</a:t>
            </a:r>
            <a:endParaRPr lang="en-US" sz="1450" dirty="0">
              <a:latin typeface="Times New Roman" panose="02020603050405020304" pitchFamily="18" charset="0"/>
              <a:cs typeface="Times New Roman" panose="02020603050405020304" pitchFamily="18" charset="0"/>
            </a:endParaRPr>
          </a:p>
          <a:p>
            <a:pPr marL="342900" indent="-342900">
              <a:lnSpc>
                <a:spcPct val="115000"/>
              </a:lnSpc>
              <a:buSzPct val="100000"/>
              <a:buChar char="•"/>
            </a:pPr>
            <a:r>
              <a:rPr lang="en-US" sz="1450" dirty="0">
                <a:solidFill>
                  <a:srgbClr val="1B2A4A"/>
                </a:solidFill>
                <a:latin typeface="Times New Roman" panose="02020603050405020304" pitchFamily="18" charset="0"/>
                <a:ea typeface="Calibri" pitchFamily="34" charset="-122"/>
                <a:cs typeface="Times New Roman" panose="02020603050405020304" pitchFamily="18" charset="0"/>
              </a:rPr>
              <a:t>Ideal for medical equipment, high-voltage test gear, and safety-critical systems.</a:t>
            </a:r>
            <a:endParaRPr lang="en-US" sz="1450" dirty="0">
              <a:latin typeface="Times New Roman" panose="02020603050405020304" pitchFamily="18" charset="0"/>
              <a:cs typeface="Times New Roman" panose="02020603050405020304" pitchFamily="18" charset="0"/>
            </a:endParaRPr>
          </a:p>
        </p:txBody>
      </p:sp>
      <p:sp>
        <p:nvSpPr>
          <p:cNvPr id="7" name="Text 4"/>
          <p:cNvSpPr/>
          <p:nvPr/>
        </p:nvSpPr>
        <p:spPr>
          <a:xfrm>
            <a:off x="457200" y="6537960"/>
            <a:ext cx="3657600" cy="274320"/>
          </a:xfrm>
          <a:prstGeom prst="rect">
            <a:avLst/>
          </a:prstGeom>
          <a:noFill/>
          <a:ln/>
        </p:spPr>
        <p:txBody>
          <a:bodyPr wrap="square" rtlCol="0" anchor="ctr"/>
          <a:lstStyle/>
          <a:p>
            <a:pPr marL="0" indent="0">
              <a:buNone/>
            </a:pPr>
            <a:r>
              <a:rPr lang="en-US" sz="900" i="1" dirty="0">
                <a:solidFill>
                  <a:srgbClr val="A9B4C2"/>
                </a:solidFill>
                <a:latin typeface="Times New Roman" panose="02020603050405020304" pitchFamily="18" charset="0"/>
                <a:ea typeface="Calibri" pitchFamily="34" charset="-122"/>
                <a:cs typeface="Times New Roman" panose="02020603050405020304" pitchFamily="18" charset="0"/>
              </a:rPr>
              <a:t>VOLTAGE SENSOR</a:t>
            </a:r>
            <a:endParaRPr lang="en-US" sz="900" dirty="0">
              <a:latin typeface="Times New Roman" panose="02020603050405020304" pitchFamily="18" charset="0"/>
              <a:cs typeface="Times New Roman" panose="02020603050405020304" pitchFamily="18" charset="0"/>
            </a:endParaRPr>
          </a:p>
        </p:txBody>
      </p:sp>
      <p:sp>
        <p:nvSpPr>
          <p:cNvPr id="8" name="Text 5"/>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A9B4C2"/>
                </a:solidFill>
                <a:latin typeface="Times New Roman" panose="02020603050405020304" pitchFamily="18" charset="0"/>
                <a:ea typeface="Calibri" pitchFamily="34" charset="-122"/>
                <a:cs typeface="Times New Roman" panose="02020603050405020304" pitchFamily="18" charset="0"/>
              </a:rPr>
              <a:t>8</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3200" b="1" dirty="0">
                <a:solidFill>
                  <a:srgbClr val="FFFFFF"/>
                </a:solidFill>
                <a:latin typeface="Times New Roman" panose="02020603050405020304" pitchFamily="18" charset="0"/>
                <a:ea typeface="Cambria" pitchFamily="34" charset="-122"/>
                <a:cs typeface="Times New Roman" panose="02020603050405020304" pitchFamily="18" charset="0"/>
              </a:rPr>
              <a:t>Key Specifications to Consider</a:t>
            </a:r>
            <a:endParaRPr lang="en-US" sz="3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1097280"/>
            <a:ext cx="10972800" cy="457200"/>
          </a:xfrm>
          <a:prstGeom prst="rect">
            <a:avLst/>
          </a:prstGeom>
          <a:noFill/>
          <a:ln/>
        </p:spPr>
        <p:txBody>
          <a:bodyPr wrap="square" rtlCol="0" anchor="ctr"/>
          <a:lstStyle/>
          <a:p>
            <a:pPr marL="0" indent="0">
              <a:buNone/>
            </a:pPr>
            <a:r>
              <a:rPr lang="en-US" sz="1400" i="1" dirty="0">
                <a:solidFill>
                  <a:srgbClr val="AFC0D6"/>
                </a:solidFill>
                <a:latin typeface="Times New Roman" panose="02020603050405020304" pitchFamily="18" charset="0"/>
                <a:ea typeface="Calibri" pitchFamily="34" charset="-122"/>
                <a:cs typeface="Times New Roman" panose="02020603050405020304" pitchFamily="18" charset="0"/>
              </a:rPr>
              <a:t>Typical parameters engineers check when selecting a voltage sensor.</a:t>
            </a:r>
            <a:endParaRPr lang="en-US" sz="1400" dirty="0">
              <a:latin typeface="Times New Roman" panose="02020603050405020304" pitchFamily="18" charset="0"/>
              <a:cs typeface="Times New Roman" panose="02020603050405020304" pitchFamily="18" charset="0"/>
            </a:endParaRPr>
          </a:p>
        </p:txBody>
      </p:sp>
      <p:sp>
        <p:nvSpPr>
          <p:cNvPr id="4" name="Shape 2"/>
          <p:cNvSpPr/>
          <p:nvPr/>
        </p:nvSpPr>
        <p:spPr>
          <a:xfrm>
            <a:off x="548640" y="2194560"/>
            <a:ext cx="2514600" cy="3108960"/>
          </a:xfrm>
          <a:prstGeom prst="roundRect">
            <a:avLst>
              <a:gd name="adj" fmla="val 3636"/>
            </a:avLst>
          </a:prstGeom>
          <a:solidFill>
            <a:srgbClr val="24365C"/>
          </a:solidFill>
          <a:ln w="12700">
            <a:solidFill>
              <a:srgbClr val="3E6D9C"/>
            </a:solidFill>
            <a:prstDash val="solid"/>
          </a:ln>
        </p:spPr>
      </p:sp>
      <p:sp>
        <p:nvSpPr>
          <p:cNvPr id="5" name="Shape 3"/>
          <p:cNvSpPr/>
          <p:nvPr/>
        </p:nvSpPr>
        <p:spPr>
          <a:xfrm>
            <a:off x="1394460" y="2514600"/>
            <a:ext cx="822960" cy="822960"/>
          </a:xfrm>
          <a:prstGeom prst="ellipse">
            <a:avLst/>
          </a:prstGeom>
          <a:solidFill>
            <a:srgbClr val="FFB627"/>
          </a:solidFill>
          <a:ln/>
        </p:spPr>
      </p:sp>
      <p:pic>
        <p:nvPicPr>
          <p:cNvPr id="6" name="Image 0" descr="/home/claude/voltage_sensor/icon_gauge.png"/>
          <p:cNvPicPr>
            <a:picLocks noChangeAspect="1"/>
          </p:cNvPicPr>
          <p:nvPr/>
        </p:nvPicPr>
        <p:blipFill>
          <a:blip r:embed="rId3"/>
          <a:stretch>
            <a:fillRect/>
          </a:stretch>
        </p:blipFill>
        <p:spPr>
          <a:xfrm>
            <a:off x="1600200" y="2720340"/>
            <a:ext cx="411480" cy="411480"/>
          </a:xfrm>
          <a:prstGeom prst="rect">
            <a:avLst/>
          </a:prstGeom>
        </p:spPr>
      </p:pic>
      <p:sp>
        <p:nvSpPr>
          <p:cNvPr id="7" name="Text 4"/>
          <p:cNvSpPr/>
          <p:nvPr/>
        </p:nvSpPr>
        <p:spPr>
          <a:xfrm>
            <a:off x="640080" y="3566160"/>
            <a:ext cx="2331720" cy="640080"/>
          </a:xfrm>
          <a:prstGeom prst="rect">
            <a:avLst/>
          </a:prstGeom>
          <a:noFill/>
          <a:ln/>
        </p:spPr>
        <p:txBody>
          <a:bodyPr wrap="square" rtlCol="0" anchor="ctr"/>
          <a:lstStyle/>
          <a:p>
            <a:pPr marL="0" indent="0" algn="ctr">
              <a:buNone/>
            </a:pPr>
            <a:r>
              <a:rPr lang="en-US" sz="2600" b="1" dirty="0">
                <a:solidFill>
                  <a:srgbClr val="FFFFFF"/>
                </a:solidFill>
                <a:latin typeface="Times New Roman" panose="02020603050405020304" pitchFamily="18" charset="0"/>
                <a:ea typeface="Cambria" pitchFamily="34" charset="-122"/>
                <a:cs typeface="Times New Roman" panose="02020603050405020304" pitchFamily="18" charset="0"/>
              </a:rPr>
              <a:t>±0.5%</a:t>
            </a:r>
            <a:endParaRPr lang="en-US" sz="2600" dirty="0">
              <a:latin typeface="Times New Roman" panose="02020603050405020304" pitchFamily="18" charset="0"/>
              <a:cs typeface="Times New Roman" panose="02020603050405020304" pitchFamily="18" charset="0"/>
            </a:endParaRPr>
          </a:p>
        </p:txBody>
      </p:sp>
      <p:sp>
        <p:nvSpPr>
          <p:cNvPr id="8" name="Text 5"/>
          <p:cNvSpPr/>
          <p:nvPr/>
        </p:nvSpPr>
        <p:spPr>
          <a:xfrm>
            <a:off x="685800" y="4251960"/>
            <a:ext cx="2240280" cy="548640"/>
          </a:xfrm>
          <a:prstGeom prst="rect">
            <a:avLst/>
          </a:prstGeom>
          <a:noFill/>
          <a:ln/>
        </p:spPr>
        <p:txBody>
          <a:bodyPr wrap="square" rtlCol="0" anchor="ctr"/>
          <a:lstStyle/>
          <a:p>
            <a:pPr marL="0" indent="0" algn="ctr">
              <a:buNone/>
            </a:pPr>
            <a:r>
              <a:rPr lang="en-US" sz="1300" dirty="0">
                <a:solidFill>
                  <a:srgbClr val="C7D3E3"/>
                </a:solidFill>
                <a:latin typeface="Times New Roman" panose="02020603050405020304" pitchFamily="18" charset="0"/>
                <a:ea typeface="Calibri" pitchFamily="34" charset="-122"/>
                <a:cs typeface="Times New Roman" panose="02020603050405020304" pitchFamily="18" charset="0"/>
              </a:rPr>
              <a:t>Typical Accuracy</a:t>
            </a:r>
            <a:endParaRPr lang="en-US" sz="1300" dirty="0">
              <a:latin typeface="Times New Roman" panose="02020603050405020304" pitchFamily="18" charset="0"/>
              <a:cs typeface="Times New Roman" panose="02020603050405020304" pitchFamily="18" charset="0"/>
            </a:endParaRPr>
          </a:p>
        </p:txBody>
      </p:sp>
      <p:sp>
        <p:nvSpPr>
          <p:cNvPr id="9" name="Shape 6"/>
          <p:cNvSpPr/>
          <p:nvPr/>
        </p:nvSpPr>
        <p:spPr>
          <a:xfrm>
            <a:off x="3319272" y="2194560"/>
            <a:ext cx="2514600" cy="3108960"/>
          </a:xfrm>
          <a:prstGeom prst="roundRect">
            <a:avLst>
              <a:gd name="adj" fmla="val 3636"/>
            </a:avLst>
          </a:prstGeom>
          <a:solidFill>
            <a:srgbClr val="24365C"/>
          </a:solidFill>
          <a:ln w="12700">
            <a:solidFill>
              <a:srgbClr val="3E6D9C"/>
            </a:solidFill>
            <a:prstDash val="solid"/>
          </a:ln>
        </p:spPr>
      </p:sp>
      <p:sp>
        <p:nvSpPr>
          <p:cNvPr id="10" name="Shape 7"/>
          <p:cNvSpPr/>
          <p:nvPr/>
        </p:nvSpPr>
        <p:spPr>
          <a:xfrm>
            <a:off x="4165092" y="2514600"/>
            <a:ext cx="822960" cy="822960"/>
          </a:xfrm>
          <a:prstGeom prst="ellipse">
            <a:avLst/>
          </a:prstGeom>
          <a:solidFill>
            <a:srgbClr val="FFB627"/>
          </a:solidFill>
          <a:ln/>
        </p:spPr>
      </p:sp>
      <p:pic>
        <p:nvPicPr>
          <p:cNvPr id="11" name="Image 1" descr="/home/claude/voltage_sensor/icon_chart.png"/>
          <p:cNvPicPr>
            <a:picLocks noChangeAspect="1"/>
          </p:cNvPicPr>
          <p:nvPr/>
        </p:nvPicPr>
        <p:blipFill>
          <a:blip r:embed="rId4"/>
          <a:stretch>
            <a:fillRect/>
          </a:stretch>
        </p:blipFill>
        <p:spPr>
          <a:xfrm>
            <a:off x="4370832" y="2720340"/>
            <a:ext cx="411480" cy="411480"/>
          </a:xfrm>
          <a:prstGeom prst="rect">
            <a:avLst/>
          </a:prstGeom>
        </p:spPr>
      </p:pic>
      <p:sp>
        <p:nvSpPr>
          <p:cNvPr id="12" name="Text 8"/>
          <p:cNvSpPr/>
          <p:nvPr/>
        </p:nvSpPr>
        <p:spPr>
          <a:xfrm>
            <a:off x="3410712" y="3566160"/>
            <a:ext cx="2331720" cy="640080"/>
          </a:xfrm>
          <a:prstGeom prst="rect">
            <a:avLst/>
          </a:prstGeom>
          <a:noFill/>
          <a:ln/>
        </p:spPr>
        <p:txBody>
          <a:bodyPr wrap="square" rtlCol="0" anchor="ctr"/>
          <a:lstStyle/>
          <a:p>
            <a:pPr marL="0" indent="0" algn="ctr">
              <a:buNone/>
            </a:pPr>
            <a:r>
              <a:rPr lang="en-US" sz="2600" b="1" dirty="0">
                <a:solidFill>
                  <a:srgbClr val="FFFFFF"/>
                </a:solidFill>
                <a:latin typeface="Times New Roman" panose="02020603050405020304" pitchFamily="18" charset="0"/>
                <a:ea typeface="Cambria" pitchFamily="34" charset="-122"/>
                <a:cs typeface="Times New Roman" panose="02020603050405020304" pitchFamily="18" charset="0"/>
              </a:rPr>
              <a:t>0–1000V</a:t>
            </a:r>
            <a:endParaRPr lang="en-US" sz="2600" dirty="0">
              <a:latin typeface="Times New Roman" panose="02020603050405020304" pitchFamily="18" charset="0"/>
              <a:cs typeface="Times New Roman" panose="02020603050405020304" pitchFamily="18" charset="0"/>
            </a:endParaRPr>
          </a:p>
        </p:txBody>
      </p:sp>
      <p:sp>
        <p:nvSpPr>
          <p:cNvPr id="13" name="Text 9"/>
          <p:cNvSpPr/>
          <p:nvPr/>
        </p:nvSpPr>
        <p:spPr>
          <a:xfrm>
            <a:off x="3456432" y="4251960"/>
            <a:ext cx="2240280" cy="548640"/>
          </a:xfrm>
          <a:prstGeom prst="rect">
            <a:avLst/>
          </a:prstGeom>
          <a:noFill/>
          <a:ln/>
        </p:spPr>
        <p:txBody>
          <a:bodyPr wrap="square" rtlCol="0" anchor="ctr"/>
          <a:lstStyle/>
          <a:p>
            <a:pPr marL="0" indent="0" algn="ctr">
              <a:buNone/>
            </a:pPr>
            <a:r>
              <a:rPr lang="en-US" sz="1300" dirty="0">
                <a:solidFill>
                  <a:srgbClr val="C7D3E3"/>
                </a:solidFill>
                <a:latin typeface="Times New Roman" panose="02020603050405020304" pitchFamily="18" charset="0"/>
                <a:ea typeface="Calibri" pitchFamily="34" charset="-122"/>
                <a:cs typeface="Times New Roman" panose="02020603050405020304" pitchFamily="18" charset="0"/>
              </a:rPr>
              <a:t>Measurement Range</a:t>
            </a:r>
            <a:endParaRPr lang="en-US" sz="1300" dirty="0">
              <a:latin typeface="Times New Roman" panose="02020603050405020304" pitchFamily="18" charset="0"/>
              <a:cs typeface="Times New Roman" panose="02020603050405020304" pitchFamily="18" charset="0"/>
            </a:endParaRPr>
          </a:p>
        </p:txBody>
      </p:sp>
      <p:sp>
        <p:nvSpPr>
          <p:cNvPr id="14" name="Shape 10"/>
          <p:cNvSpPr/>
          <p:nvPr/>
        </p:nvSpPr>
        <p:spPr>
          <a:xfrm>
            <a:off x="6089904" y="2194560"/>
            <a:ext cx="2514600" cy="3108960"/>
          </a:xfrm>
          <a:prstGeom prst="roundRect">
            <a:avLst>
              <a:gd name="adj" fmla="val 3636"/>
            </a:avLst>
          </a:prstGeom>
          <a:solidFill>
            <a:srgbClr val="24365C"/>
          </a:solidFill>
          <a:ln w="12700">
            <a:solidFill>
              <a:srgbClr val="3E6D9C"/>
            </a:solidFill>
            <a:prstDash val="solid"/>
          </a:ln>
        </p:spPr>
      </p:sp>
      <p:sp>
        <p:nvSpPr>
          <p:cNvPr id="15" name="Shape 11"/>
          <p:cNvSpPr/>
          <p:nvPr/>
        </p:nvSpPr>
        <p:spPr>
          <a:xfrm>
            <a:off x="6935724" y="2514600"/>
            <a:ext cx="822960" cy="822960"/>
          </a:xfrm>
          <a:prstGeom prst="ellipse">
            <a:avLst/>
          </a:prstGeom>
          <a:solidFill>
            <a:srgbClr val="FFB627"/>
          </a:solidFill>
          <a:ln/>
        </p:spPr>
      </p:sp>
      <p:pic>
        <p:nvPicPr>
          <p:cNvPr id="16" name="Image 2" descr="/home/claude/voltage_sensor/icon_bolt.png"/>
          <p:cNvPicPr>
            <a:picLocks noChangeAspect="1"/>
          </p:cNvPicPr>
          <p:nvPr/>
        </p:nvPicPr>
        <p:blipFill>
          <a:blip r:embed="rId5"/>
          <a:stretch>
            <a:fillRect/>
          </a:stretch>
        </p:blipFill>
        <p:spPr>
          <a:xfrm>
            <a:off x="7141464" y="2720340"/>
            <a:ext cx="411480" cy="411480"/>
          </a:xfrm>
          <a:prstGeom prst="rect">
            <a:avLst/>
          </a:prstGeom>
        </p:spPr>
      </p:pic>
      <p:sp>
        <p:nvSpPr>
          <p:cNvPr id="17" name="Text 12"/>
          <p:cNvSpPr/>
          <p:nvPr/>
        </p:nvSpPr>
        <p:spPr>
          <a:xfrm>
            <a:off x="6181344" y="3566160"/>
            <a:ext cx="2331720" cy="640080"/>
          </a:xfrm>
          <a:prstGeom prst="rect">
            <a:avLst/>
          </a:prstGeom>
          <a:noFill/>
          <a:ln/>
        </p:spPr>
        <p:txBody>
          <a:bodyPr wrap="square" rtlCol="0" anchor="ctr"/>
          <a:lstStyle/>
          <a:p>
            <a:pPr marL="0" indent="0" algn="ctr">
              <a:buNone/>
            </a:pPr>
            <a:r>
              <a:rPr lang="en-US" sz="2600" b="1" dirty="0">
                <a:solidFill>
                  <a:srgbClr val="FFFFFF"/>
                </a:solidFill>
                <a:latin typeface="Times New Roman" panose="02020603050405020304" pitchFamily="18" charset="0"/>
                <a:ea typeface="Cambria" pitchFamily="34" charset="-122"/>
                <a:cs typeface="Times New Roman" panose="02020603050405020304" pitchFamily="18" charset="0"/>
              </a:rPr>
              <a:t>&lt; 1 ms</a:t>
            </a:r>
            <a:endParaRPr lang="en-US" sz="2600" dirty="0">
              <a:latin typeface="Times New Roman" panose="02020603050405020304" pitchFamily="18" charset="0"/>
              <a:cs typeface="Times New Roman" panose="02020603050405020304" pitchFamily="18" charset="0"/>
            </a:endParaRPr>
          </a:p>
        </p:txBody>
      </p:sp>
      <p:sp>
        <p:nvSpPr>
          <p:cNvPr id="18" name="Text 13"/>
          <p:cNvSpPr/>
          <p:nvPr/>
        </p:nvSpPr>
        <p:spPr>
          <a:xfrm>
            <a:off x="6227064" y="4251960"/>
            <a:ext cx="2240280" cy="548640"/>
          </a:xfrm>
          <a:prstGeom prst="rect">
            <a:avLst/>
          </a:prstGeom>
          <a:noFill/>
          <a:ln/>
        </p:spPr>
        <p:txBody>
          <a:bodyPr wrap="square" rtlCol="0" anchor="ctr"/>
          <a:lstStyle/>
          <a:p>
            <a:pPr marL="0" indent="0" algn="ctr">
              <a:buNone/>
            </a:pPr>
            <a:r>
              <a:rPr lang="en-US" sz="1300" dirty="0">
                <a:solidFill>
                  <a:srgbClr val="C7D3E3"/>
                </a:solidFill>
                <a:latin typeface="Times New Roman" panose="02020603050405020304" pitchFamily="18" charset="0"/>
                <a:ea typeface="Calibri" pitchFamily="34" charset="-122"/>
                <a:cs typeface="Times New Roman" panose="02020603050405020304" pitchFamily="18" charset="0"/>
              </a:rPr>
              <a:t>Response Time</a:t>
            </a:r>
            <a:endParaRPr lang="en-US" sz="1300" dirty="0">
              <a:latin typeface="Times New Roman" panose="02020603050405020304" pitchFamily="18" charset="0"/>
              <a:cs typeface="Times New Roman" panose="02020603050405020304" pitchFamily="18" charset="0"/>
            </a:endParaRPr>
          </a:p>
        </p:txBody>
      </p:sp>
      <p:sp>
        <p:nvSpPr>
          <p:cNvPr id="19" name="Shape 14"/>
          <p:cNvSpPr/>
          <p:nvPr/>
        </p:nvSpPr>
        <p:spPr>
          <a:xfrm>
            <a:off x="8860536" y="2194560"/>
            <a:ext cx="2514600" cy="3108960"/>
          </a:xfrm>
          <a:prstGeom prst="roundRect">
            <a:avLst>
              <a:gd name="adj" fmla="val 3636"/>
            </a:avLst>
          </a:prstGeom>
          <a:solidFill>
            <a:srgbClr val="24365C"/>
          </a:solidFill>
          <a:ln w="12700">
            <a:solidFill>
              <a:srgbClr val="3E6D9C"/>
            </a:solidFill>
            <a:prstDash val="solid"/>
          </a:ln>
        </p:spPr>
      </p:sp>
      <p:sp>
        <p:nvSpPr>
          <p:cNvPr id="20" name="Shape 15"/>
          <p:cNvSpPr/>
          <p:nvPr/>
        </p:nvSpPr>
        <p:spPr>
          <a:xfrm>
            <a:off x="9706356" y="2514600"/>
            <a:ext cx="822960" cy="822960"/>
          </a:xfrm>
          <a:prstGeom prst="ellipse">
            <a:avLst/>
          </a:prstGeom>
          <a:solidFill>
            <a:srgbClr val="FFB627"/>
          </a:solidFill>
          <a:ln/>
        </p:spPr>
      </p:sp>
      <p:pic>
        <p:nvPicPr>
          <p:cNvPr id="21" name="Image 3" descr="/home/claude/voltage_sensor/icon_shield.png"/>
          <p:cNvPicPr>
            <a:picLocks noChangeAspect="1"/>
          </p:cNvPicPr>
          <p:nvPr/>
        </p:nvPicPr>
        <p:blipFill>
          <a:blip r:embed="rId6"/>
          <a:stretch>
            <a:fillRect/>
          </a:stretch>
        </p:blipFill>
        <p:spPr>
          <a:xfrm>
            <a:off x="9912096" y="2720340"/>
            <a:ext cx="411480" cy="411480"/>
          </a:xfrm>
          <a:prstGeom prst="rect">
            <a:avLst/>
          </a:prstGeom>
        </p:spPr>
      </p:pic>
      <p:sp>
        <p:nvSpPr>
          <p:cNvPr id="22" name="Text 16"/>
          <p:cNvSpPr/>
          <p:nvPr/>
        </p:nvSpPr>
        <p:spPr>
          <a:xfrm>
            <a:off x="8951976" y="3566160"/>
            <a:ext cx="2331720" cy="640080"/>
          </a:xfrm>
          <a:prstGeom prst="rect">
            <a:avLst/>
          </a:prstGeom>
          <a:noFill/>
          <a:ln/>
        </p:spPr>
        <p:txBody>
          <a:bodyPr wrap="square" rtlCol="0" anchor="ctr"/>
          <a:lstStyle/>
          <a:p>
            <a:pPr marL="0" indent="0" algn="ctr">
              <a:buNone/>
            </a:pPr>
            <a:r>
              <a:rPr lang="en-US" sz="2600" b="1" dirty="0">
                <a:solidFill>
                  <a:srgbClr val="FFFFFF"/>
                </a:solidFill>
                <a:latin typeface="Times New Roman" panose="02020603050405020304" pitchFamily="18" charset="0"/>
                <a:ea typeface="Cambria" pitchFamily="34" charset="-122"/>
                <a:cs typeface="Times New Roman" panose="02020603050405020304" pitchFamily="18" charset="0"/>
              </a:rPr>
              <a:t>up to 5kV</a:t>
            </a:r>
            <a:endParaRPr lang="en-US" sz="2600" dirty="0">
              <a:latin typeface="Times New Roman" panose="02020603050405020304" pitchFamily="18" charset="0"/>
              <a:cs typeface="Times New Roman" panose="02020603050405020304" pitchFamily="18" charset="0"/>
            </a:endParaRPr>
          </a:p>
        </p:txBody>
      </p:sp>
      <p:sp>
        <p:nvSpPr>
          <p:cNvPr id="23" name="Text 17"/>
          <p:cNvSpPr/>
          <p:nvPr/>
        </p:nvSpPr>
        <p:spPr>
          <a:xfrm>
            <a:off x="8997696" y="4251960"/>
            <a:ext cx="2240280" cy="548640"/>
          </a:xfrm>
          <a:prstGeom prst="rect">
            <a:avLst/>
          </a:prstGeom>
          <a:noFill/>
          <a:ln/>
        </p:spPr>
        <p:txBody>
          <a:bodyPr wrap="square" rtlCol="0" anchor="ctr"/>
          <a:lstStyle/>
          <a:p>
            <a:pPr marL="0" indent="0" algn="ctr">
              <a:buNone/>
            </a:pPr>
            <a:r>
              <a:rPr lang="en-US" sz="1300" dirty="0">
                <a:solidFill>
                  <a:srgbClr val="C7D3E3"/>
                </a:solidFill>
                <a:latin typeface="Times New Roman" panose="02020603050405020304" pitchFamily="18" charset="0"/>
                <a:ea typeface="Calibri" pitchFamily="34" charset="-122"/>
                <a:cs typeface="Times New Roman" panose="02020603050405020304" pitchFamily="18" charset="0"/>
              </a:rPr>
              <a:t>Isolation Rating</a:t>
            </a:r>
            <a:endParaRPr lang="en-US" sz="1300" dirty="0">
              <a:latin typeface="Times New Roman" panose="02020603050405020304" pitchFamily="18" charset="0"/>
              <a:cs typeface="Times New Roman" panose="02020603050405020304" pitchFamily="18" charset="0"/>
            </a:endParaRPr>
          </a:p>
        </p:txBody>
      </p:sp>
      <p:sp>
        <p:nvSpPr>
          <p:cNvPr id="24" name="Text 18"/>
          <p:cNvSpPr/>
          <p:nvPr/>
        </p:nvSpPr>
        <p:spPr>
          <a:xfrm>
            <a:off x="548640" y="5577840"/>
            <a:ext cx="11064240" cy="457200"/>
          </a:xfrm>
          <a:prstGeom prst="rect">
            <a:avLst/>
          </a:prstGeom>
          <a:noFill/>
          <a:ln/>
        </p:spPr>
        <p:txBody>
          <a:bodyPr wrap="square" rtlCol="0" anchor="ctr"/>
          <a:lstStyle/>
          <a:p>
            <a:pPr marL="0" indent="0" algn="ctr">
              <a:buNone/>
            </a:pPr>
            <a:r>
              <a:rPr lang="en-US" sz="1150" i="1" dirty="0">
                <a:solidFill>
                  <a:srgbClr val="8FA3BF"/>
                </a:solidFill>
                <a:latin typeface="Times New Roman" panose="02020603050405020304" pitchFamily="18" charset="0"/>
                <a:ea typeface="Calibri" pitchFamily="34" charset="-122"/>
                <a:cs typeface="Times New Roman" panose="02020603050405020304" pitchFamily="18" charset="0"/>
              </a:rPr>
              <a:t>Values vary by sensor type, manufacturer, and design — always confirm against the datasheet.</a:t>
            </a:r>
            <a:endParaRPr lang="en-US" sz="1150" dirty="0">
              <a:latin typeface="Times New Roman" panose="02020603050405020304" pitchFamily="18" charset="0"/>
              <a:cs typeface="Times New Roman" panose="02020603050405020304" pitchFamily="18" charset="0"/>
            </a:endParaRPr>
          </a:p>
        </p:txBody>
      </p:sp>
      <p:sp>
        <p:nvSpPr>
          <p:cNvPr id="25" name="Text 19"/>
          <p:cNvSpPr/>
          <p:nvPr/>
        </p:nvSpPr>
        <p:spPr>
          <a:xfrm>
            <a:off x="457200" y="6537960"/>
            <a:ext cx="3657600" cy="274320"/>
          </a:xfrm>
          <a:prstGeom prst="rect">
            <a:avLst/>
          </a:prstGeom>
          <a:noFill/>
          <a:ln/>
        </p:spPr>
        <p:txBody>
          <a:bodyPr wrap="square" rtlCol="0" anchor="ctr"/>
          <a:lstStyle/>
          <a:p>
            <a:pPr marL="0" indent="0">
              <a:buNone/>
            </a:pPr>
            <a:r>
              <a:rPr lang="en-US" sz="900" i="1" dirty="0">
                <a:solidFill>
                  <a:srgbClr val="8FA3BF"/>
                </a:solidFill>
                <a:latin typeface="Times New Roman" panose="02020603050405020304" pitchFamily="18" charset="0"/>
                <a:ea typeface="Calibri" pitchFamily="34" charset="-122"/>
                <a:cs typeface="Times New Roman" panose="02020603050405020304" pitchFamily="18" charset="0"/>
              </a:rPr>
              <a:t>VOLTAGE SENSOR</a:t>
            </a:r>
            <a:endParaRPr lang="en-US" sz="900" dirty="0">
              <a:latin typeface="Times New Roman" panose="02020603050405020304" pitchFamily="18" charset="0"/>
              <a:cs typeface="Times New Roman" panose="02020603050405020304" pitchFamily="18" charset="0"/>
            </a:endParaRPr>
          </a:p>
        </p:txBody>
      </p:sp>
      <p:sp>
        <p:nvSpPr>
          <p:cNvPr id="26" name="Text 20"/>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8FA3BF"/>
                </a:solidFill>
                <a:latin typeface="Times New Roman" panose="02020603050405020304" pitchFamily="18" charset="0"/>
                <a:ea typeface="Calibri" pitchFamily="34" charset="-122"/>
                <a:cs typeface="Times New Roman" panose="02020603050405020304" pitchFamily="18" charset="0"/>
              </a:rPr>
              <a:t>9</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3200" b="1" dirty="0">
                <a:solidFill>
                  <a:srgbClr val="1B2A4A"/>
                </a:solidFill>
                <a:latin typeface="Times New Roman" panose="02020603050405020304" pitchFamily="18" charset="0"/>
                <a:ea typeface="Cambria" pitchFamily="34" charset="-122"/>
                <a:cs typeface="Times New Roman" panose="02020603050405020304" pitchFamily="18" charset="0"/>
              </a:rPr>
              <a:t>Real-World Applications</a:t>
            </a:r>
            <a:endParaRPr lang="en-US" sz="3200" dirty="0">
              <a:latin typeface="Times New Roman" panose="02020603050405020304" pitchFamily="18" charset="0"/>
              <a:cs typeface="Times New Roman" panose="02020603050405020304" pitchFamily="18" charset="0"/>
            </a:endParaRPr>
          </a:p>
        </p:txBody>
      </p:sp>
      <p:sp>
        <p:nvSpPr>
          <p:cNvPr id="3" name="Shape 1"/>
          <p:cNvSpPr/>
          <p:nvPr/>
        </p:nvSpPr>
        <p:spPr>
          <a:xfrm>
            <a:off x="548640" y="1417320"/>
            <a:ext cx="3566160" cy="1920240"/>
          </a:xfrm>
          <a:prstGeom prst="roundRect">
            <a:avLst>
              <a:gd name="adj" fmla="val 4762"/>
            </a:avLst>
          </a:prstGeom>
          <a:solidFill>
            <a:srgbClr val="F7F9FC"/>
          </a:solidFill>
          <a:ln/>
        </p:spPr>
      </p:sp>
      <p:sp>
        <p:nvSpPr>
          <p:cNvPr id="4" name="Shape 2"/>
          <p:cNvSpPr/>
          <p:nvPr/>
        </p:nvSpPr>
        <p:spPr>
          <a:xfrm>
            <a:off x="1965960" y="1645920"/>
            <a:ext cx="731520" cy="731520"/>
          </a:xfrm>
          <a:prstGeom prst="ellipse">
            <a:avLst/>
          </a:prstGeom>
          <a:solidFill>
            <a:srgbClr val="3E6D9C"/>
          </a:solidFill>
          <a:ln/>
        </p:spPr>
      </p:sp>
      <p:pic>
        <p:nvPicPr>
          <p:cNvPr id="5" name="Image 0" descr="/home/claude/voltage_sensor/icon_network.png"/>
          <p:cNvPicPr>
            <a:picLocks noChangeAspect="1"/>
          </p:cNvPicPr>
          <p:nvPr/>
        </p:nvPicPr>
        <p:blipFill>
          <a:blip r:embed="rId3"/>
          <a:stretch>
            <a:fillRect/>
          </a:stretch>
        </p:blipFill>
        <p:spPr>
          <a:xfrm>
            <a:off x="2148840" y="1828800"/>
            <a:ext cx="365760" cy="365760"/>
          </a:xfrm>
          <a:prstGeom prst="rect">
            <a:avLst/>
          </a:prstGeom>
        </p:spPr>
      </p:pic>
      <p:sp>
        <p:nvSpPr>
          <p:cNvPr id="6" name="Text 3"/>
          <p:cNvSpPr/>
          <p:nvPr/>
        </p:nvSpPr>
        <p:spPr>
          <a:xfrm>
            <a:off x="685800" y="2441448"/>
            <a:ext cx="3291840" cy="365760"/>
          </a:xfrm>
          <a:prstGeom prst="rect">
            <a:avLst/>
          </a:prstGeom>
          <a:noFill/>
          <a:ln/>
        </p:spPr>
        <p:txBody>
          <a:bodyPr wrap="square" rtlCol="0" anchor="ctr"/>
          <a:lstStyle/>
          <a:p>
            <a:pPr marL="0" indent="0" algn="ctr">
              <a:buNone/>
            </a:pPr>
            <a:r>
              <a:rPr lang="en-US" sz="1450" b="1" dirty="0">
                <a:solidFill>
                  <a:srgbClr val="1B2A4A"/>
                </a:solidFill>
                <a:latin typeface="Times New Roman" panose="02020603050405020304" pitchFamily="18" charset="0"/>
                <a:ea typeface="Calibri" pitchFamily="34" charset="-122"/>
                <a:cs typeface="Times New Roman" panose="02020603050405020304" pitchFamily="18" charset="0"/>
              </a:rPr>
              <a:t>Power Grids</a:t>
            </a:r>
            <a:endParaRPr lang="en-US" sz="1450" dirty="0">
              <a:latin typeface="Times New Roman" panose="02020603050405020304" pitchFamily="18" charset="0"/>
              <a:cs typeface="Times New Roman" panose="02020603050405020304" pitchFamily="18" charset="0"/>
            </a:endParaRPr>
          </a:p>
        </p:txBody>
      </p:sp>
      <p:sp>
        <p:nvSpPr>
          <p:cNvPr id="7" name="Text 4"/>
          <p:cNvSpPr/>
          <p:nvPr/>
        </p:nvSpPr>
        <p:spPr>
          <a:xfrm>
            <a:off x="731520" y="2807208"/>
            <a:ext cx="3200400" cy="502920"/>
          </a:xfrm>
          <a:prstGeom prst="rect">
            <a:avLst/>
          </a:prstGeom>
          <a:noFill/>
          <a:ln/>
        </p:spPr>
        <p:txBody>
          <a:bodyPr wrap="square" rtlCol="0" anchor="t"/>
          <a:lstStyle/>
          <a:p>
            <a:pPr marL="0" indent="0" algn="ctr">
              <a:lnSpc>
                <a:spcPct val="110000"/>
              </a:lnSpc>
              <a:buNone/>
            </a:pPr>
            <a:r>
              <a:rPr lang="en-US" sz="1100" dirty="0">
                <a:solidFill>
                  <a:srgbClr val="5C6B7A"/>
                </a:solidFill>
                <a:latin typeface="Times New Roman" panose="02020603050405020304" pitchFamily="18" charset="0"/>
                <a:ea typeface="Calibri" pitchFamily="34" charset="-122"/>
                <a:cs typeface="Times New Roman" panose="02020603050405020304" pitchFamily="18" charset="0"/>
              </a:rPr>
              <a:t>Monitoring transmission and distribution line voltage.</a:t>
            </a:r>
            <a:endParaRPr lang="en-US" sz="1100" dirty="0">
              <a:latin typeface="Times New Roman" panose="02020603050405020304" pitchFamily="18" charset="0"/>
              <a:cs typeface="Times New Roman" panose="02020603050405020304" pitchFamily="18" charset="0"/>
            </a:endParaRPr>
          </a:p>
        </p:txBody>
      </p:sp>
      <p:sp>
        <p:nvSpPr>
          <p:cNvPr id="8" name="Shape 5"/>
          <p:cNvSpPr/>
          <p:nvPr/>
        </p:nvSpPr>
        <p:spPr>
          <a:xfrm>
            <a:off x="4389120" y="1417320"/>
            <a:ext cx="3566160" cy="1920240"/>
          </a:xfrm>
          <a:prstGeom prst="roundRect">
            <a:avLst>
              <a:gd name="adj" fmla="val 4762"/>
            </a:avLst>
          </a:prstGeom>
          <a:solidFill>
            <a:srgbClr val="F7F9FC"/>
          </a:solidFill>
          <a:ln/>
        </p:spPr>
      </p:sp>
      <p:sp>
        <p:nvSpPr>
          <p:cNvPr id="9" name="Shape 6"/>
          <p:cNvSpPr/>
          <p:nvPr/>
        </p:nvSpPr>
        <p:spPr>
          <a:xfrm>
            <a:off x="5806440" y="1645920"/>
            <a:ext cx="731520" cy="731520"/>
          </a:xfrm>
          <a:prstGeom prst="ellipse">
            <a:avLst/>
          </a:prstGeom>
          <a:solidFill>
            <a:srgbClr val="3E6D9C"/>
          </a:solidFill>
          <a:ln/>
        </p:spPr>
      </p:sp>
      <p:pic>
        <p:nvPicPr>
          <p:cNvPr id="10" name="Image 1" descr="/home/claude/voltage_sensor/icon_carbattery.png"/>
          <p:cNvPicPr>
            <a:picLocks noChangeAspect="1"/>
          </p:cNvPicPr>
          <p:nvPr/>
        </p:nvPicPr>
        <p:blipFill>
          <a:blip r:embed="rId4"/>
          <a:stretch>
            <a:fillRect/>
          </a:stretch>
        </p:blipFill>
        <p:spPr>
          <a:xfrm>
            <a:off x="5989320" y="1828800"/>
            <a:ext cx="365760" cy="365760"/>
          </a:xfrm>
          <a:prstGeom prst="rect">
            <a:avLst/>
          </a:prstGeom>
        </p:spPr>
      </p:pic>
      <p:sp>
        <p:nvSpPr>
          <p:cNvPr id="11" name="Text 7"/>
          <p:cNvSpPr/>
          <p:nvPr/>
        </p:nvSpPr>
        <p:spPr>
          <a:xfrm>
            <a:off x="4526280" y="2441448"/>
            <a:ext cx="3291840" cy="365760"/>
          </a:xfrm>
          <a:prstGeom prst="rect">
            <a:avLst/>
          </a:prstGeom>
          <a:noFill/>
          <a:ln/>
        </p:spPr>
        <p:txBody>
          <a:bodyPr wrap="square" rtlCol="0" anchor="ctr"/>
          <a:lstStyle/>
          <a:p>
            <a:pPr marL="0" indent="0" algn="ctr">
              <a:buNone/>
            </a:pPr>
            <a:r>
              <a:rPr lang="en-US" sz="1450" b="1" dirty="0">
                <a:solidFill>
                  <a:srgbClr val="1B2A4A"/>
                </a:solidFill>
                <a:latin typeface="Times New Roman" panose="02020603050405020304" pitchFamily="18" charset="0"/>
                <a:ea typeface="Calibri" pitchFamily="34" charset="-122"/>
                <a:cs typeface="Times New Roman" panose="02020603050405020304" pitchFamily="18" charset="0"/>
              </a:rPr>
              <a:t>Electric Vehicles</a:t>
            </a:r>
            <a:endParaRPr lang="en-US" sz="1450" dirty="0">
              <a:latin typeface="Times New Roman" panose="02020603050405020304" pitchFamily="18" charset="0"/>
              <a:cs typeface="Times New Roman" panose="02020603050405020304" pitchFamily="18" charset="0"/>
            </a:endParaRPr>
          </a:p>
        </p:txBody>
      </p:sp>
      <p:sp>
        <p:nvSpPr>
          <p:cNvPr id="12" name="Text 8"/>
          <p:cNvSpPr/>
          <p:nvPr/>
        </p:nvSpPr>
        <p:spPr>
          <a:xfrm>
            <a:off x="4572000" y="2807208"/>
            <a:ext cx="3200400" cy="502920"/>
          </a:xfrm>
          <a:prstGeom prst="rect">
            <a:avLst/>
          </a:prstGeom>
          <a:noFill/>
          <a:ln/>
        </p:spPr>
        <p:txBody>
          <a:bodyPr wrap="square" rtlCol="0" anchor="t"/>
          <a:lstStyle/>
          <a:p>
            <a:pPr marL="0" indent="0" algn="ctr">
              <a:lnSpc>
                <a:spcPct val="110000"/>
              </a:lnSpc>
              <a:buNone/>
            </a:pPr>
            <a:r>
              <a:rPr lang="en-US" sz="1100" dirty="0">
                <a:solidFill>
                  <a:srgbClr val="5C6B7A"/>
                </a:solidFill>
                <a:latin typeface="Times New Roman" panose="02020603050405020304" pitchFamily="18" charset="0"/>
                <a:ea typeface="Calibri" pitchFamily="34" charset="-122"/>
                <a:cs typeface="Times New Roman" panose="02020603050405020304" pitchFamily="18" charset="0"/>
              </a:rPr>
              <a:t>Tracking battery pack and motor drive voltages.</a:t>
            </a:r>
            <a:endParaRPr lang="en-US" sz="1100" dirty="0">
              <a:latin typeface="Times New Roman" panose="02020603050405020304" pitchFamily="18" charset="0"/>
              <a:cs typeface="Times New Roman" panose="02020603050405020304" pitchFamily="18" charset="0"/>
            </a:endParaRPr>
          </a:p>
        </p:txBody>
      </p:sp>
      <p:sp>
        <p:nvSpPr>
          <p:cNvPr id="13" name="Shape 9"/>
          <p:cNvSpPr/>
          <p:nvPr/>
        </p:nvSpPr>
        <p:spPr>
          <a:xfrm>
            <a:off x="8229600" y="1417320"/>
            <a:ext cx="3566160" cy="1920240"/>
          </a:xfrm>
          <a:prstGeom prst="roundRect">
            <a:avLst>
              <a:gd name="adj" fmla="val 4762"/>
            </a:avLst>
          </a:prstGeom>
          <a:solidFill>
            <a:srgbClr val="F7F9FC"/>
          </a:solidFill>
          <a:ln/>
        </p:spPr>
      </p:sp>
      <p:sp>
        <p:nvSpPr>
          <p:cNvPr id="14" name="Shape 10"/>
          <p:cNvSpPr/>
          <p:nvPr/>
        </p:nvSpPr>
        <p:spPr>
          <a:xfrm>
            <a:off x="9646920" y="1645920"/>
            <a:ext cx="731520" cy="731520"/>
          </a:xfrm>
          <a:prstGeom prst="ellipse">
            <a:avLst/>
          </a:prstGeom>
          <a:solidFill>
            <a:srgbClr val="3E6D9C"/>
          </a:solidFill>
          <a:ln/>
        </p:spPr>
      </p:sp>
      <p:pic>
        <p:nvPicPr>
          <p:cNvPr id="15" name="Image 2" descr="/home/claude/voltage_sensor/icon_industry.png"/>
          <p:cNvPicPr>
            <a:picLocks noChangeAspect="1"/>
          </p:cNvPicPr>
          <p:nvPr/>
        </p:nvPicPr>
        <p:blipFill>
          <a:blip r:embed="rId5"/>
          <a:stretch>
            <a:fillRect/>
          </a:stretch>
        </p:blipFill>
        <p:spPr>
          <a:xfrm>
            <a:off x="9829800" y="1828800"/>
            <a:ext cx="365760" cy="365760"/>
          </a:xfrm>
          <a:prstGeom prst="rect">
            <a:avLst/>
          </a:prstGeom>
        </p:spPr>
      </p:pic>
      <p:sp>
        <p:nvSpPr>
          <p:cNvPr id="16" name="Text 11"/>
          <p:cNvSpPr/>
          <p:nvPr/>
        </p:nvSpPr>
        <p:spPr>
          <a:xfrm>
            <a:off x="8366760" y="2441448"/>
            <a:ext cx="3291840" cy="365760"/>
          </a:xfrm>
          <a:prstGeom prst="rect">
            <a:avLst/>
          </a:prstGeom>
          <a:noFill/>
          <a:ln/>
        </p:spPr>
        <p:txBody>
          <a:bodyPr wrap="square" rtlCol="0" anchor="ctr"/>
          <a:lstStyle/>
          <a:p>
            <a:pPr marL="0" indent="0" algn="ctr">
              <a:buNone/>
            </a:pPr>
            <a:r>
              <a:rPr lang="en-US" sz="1450" b="1" dirty="0">
                <a:solidFill>
                  <a:srgbClr val="1B2A4A"/>
                </a:solidFill>
                <a:latin typeface="Times New Roman" panose="02020603050405020304" pitchFamily="18" charset="0"/>
                <a:ea typeface="Calibri" pitchFamily="34" charset="-122"/>
                <a:cs typeface="Times New Roman" panose="02020603050405020304" pitchFamily="18" charset="0"/>
              </a:rPr>
              <a:t>Industrial Automation</a:t>
            </a:r>
            <a:endParaRPr lang="en-US" sz="1450" dirty="0">
              <a:latin typeface="Times New Roman" panose="02020603050405020304" pitchFamily="18" charset="0"/>
              <a:cs typeface="Times New Roman" panose="02020603050405020304" pitchFamily="18" charset="0"/>
            </a:endParaRPr>
          </a:p>
        </p:txBody>
      </p:sp>
      <p:sp>
        <p:nvSpPr>
          <p:cNvPr id="17" name="Text 12"/>
          <p:cNvSpPr/>
          <p:nvPr/>
        </p:nvSpPr>
        <p:spPr>
          <a:xfrm>
            <a:off x="8412480" y="2807208"/>
            <a:ext cx="3200400" cy="502920"/>
          </a:xfrm>
          <a:prstGeom prst="rect">
            <a:avLst/>
          </a:prstGeom>
          <a:noFill/>
          <a:ln/>
        </p:spPr>
        <p:txBody>
          <a:bodyPr wrap="square" rtlCol="0" anchor="t"/>
          <a:lstStyle/>
          <a:p>
            <a:pPr marL="0" indent="0" algn="ctr">
              <a:lnSpc>
                <a:spcPct val="110000"/>
              </a:lnSpc>
              <a:buNone/>
            </a:pPr>
            <a:r>
              <a:rPr lang="en-US" sz="1100" dirty="0">
                <a:solidFill>
                  <a:srgbClr val="5C6B7A"/>
                </a:solidFill>
                <a:latin typeface="Times New Roman" panose="02020603050405020304" pitchFamily="18" charset="0"/>
                <a:ea typeface="Calibri" pitchFamily="34" charset="-122"/>
                <a:cs typeface="Times New Roman" panose="02020603050405020304" pitchFamily="18" charset="0"/>
              </a:rPr>
              <a:t>Protecting motors, drives, and control panels.</a:t>
            </a:r>
            <a:endParaRPr lang="en-US" sz="1100" dirty="0">
              <a:latin typeface="Times New Roman" panose="02020603050405020304" pitchFamily="18" charset="0"/>
              <a:cs typeface="Times New Roman" panose="02020603050405020304" pitchFamily="18" charset="0"/>
            </a:endParaRPr>
          </a:p>
        </p:txBody>
      </p:sp>
      <p:sp>
        <p:nvSpPr>
          <p:cNvPr id="18" name="Shape 13"/>
          <p:cNvSpPr/>
          <p:nvPr/>
        </p:nvSpPr>
        <p:spPr>
          <a:xfrm>
            <a:off x="548640" y="3657600"/>
            <a:ext cx="3566160" cy="1920240"/>
          </a:xfrm>
          <a:prstGeom prst="roundRect">
            <a:avLst>
              <a:gd name="adj" fmla="val 4762"/>
            </a:avLst>
          </a:prstGeom>
          <a:solidFill>
            <a:srgbClr val="F7F9FC"/>
          </a:solidFill>
          <a:ln/>
        </p:spPr>
      </p:sp>
      <p:sp>
        <p:nvSpPr>
          <p:cNvPr id="19" name="Shape 14"/>
          <p:cNvSpPr/>
          <p:nvPr/>
        </p:nvSpPr>
        <p:spPr>
          <a:xfrm>
            <a:off x="1965960" y="3886200"/>
            <a:ext cx="731520" cy="731520"/>
          </a:xfrm>
          <a:prstGeom prst="ellipse">
            <a:avLst/>
          </a:prstGeom>
          <a:solidFill>
            <a:srgbClr val="3E6D9C"/>
          </a:solidFill>
          <a:ln/>
        </p:spPr>
      </p:sp>
      <p:pic>
        <p:nvPicPr>
          <p:cNvPr id="20" name="Image 3" descr="/home/claude/voltage_sensor/icon_solar.png"/>
          <p:cNvPicPr>
            <a:picLocks noChangeAspect="1"/>
          </p:cNvPicPr>
          <p:nvPr/>
        </p:nvPicPr>
        <p:blipFill>
          <a:blip r:embed="rId6"/>
          <a:stretch>
            <a:fillRect/>
          </a:stretch>
        </p:blipFill>
        <p:spPr>
          <a:xfrm>
            <a:off x="2148840" y="4069080"/>
            <a:ext cx="365760" cy="365760"/>
          </a:xfrm>
          <a:prstGeom prst="rect">
            <a:avLst/>
          </a:prstGeom>
        </p:spPr>
      </p:pic>
      <p:sp>
        <p:nvSpPr>
          <p:cNvPr id="21" name="Text 15"/>
          <p:cNvSpPr/>
          <p:nvPr/>
        </p:nvSpPr>
        <p:spPr>
          <a:xfrm>
            <a:off x="685800" y="4681728"/>
            <a:ext cx="3291840" cy="365760"/>
          </a:xfrm>
          <a:prstGeom prst="rect">
            <a:avLst/>
          </a:prstGeom>
          <a:noFill/>
          <a:ln/>
        </p:spPr>
        <p:txBody>
          <a:bodyPr wrap="square" rtlCol="0" anchor="ctr"/>
          <a:lstStyle/>
          <a:p>
            <a:pPr marL="0" indent="0" algn="ctr">
              <a:buNone/>
            </a:pPr>
            <a:r>
              <a:rPr lang="en-US" sz="1450" b="1" dirty="0">
                <a:solidFill>
                  <a:srgbClr val="1B2A4A"/>
                </a:solidFill>
                <a:latin typeface="Times New Roman" panose="02020603050405020304" pitchFamily="18" charset="0"/>
                <a:ea typeface="Calibri" pitchFamily="34" charset="-122"/>
                <a:cs typeface="Times New Roman" panose="02020603050405020304" pitchFamily="18" charset="0"/>
              </a:rPr>
              <a:t>Renewable Energy</a:t>
            </a:r>
            <a:endParaRPr lang="en-US" sz="1450" dirty="0">
              <a:latin typeface="Times New Roman" panose="02020603050405020304" pitchFamily="18" charset="0"/>
              <a:cs typeface="Times New Roman" panose="02020603050405020304" pitchFamily="18" charset="0"/>
            </a:endParaRPr>
          </a:p>
        </p:txBody>
      </p:sp>
      <p:sp>
        <p:nvSpPr>
          <p:cNvPr id="22" name="Text 16"/>
          <p:cNvSpPr/>
          <p:nvPr/>
        </p:nvSpPr>
        <p:spPr>
          <a:xfrm>
            <a:off x="731520" y="5047488"/>
            <a:ext cx="3200400" cy="502920"/>
          </a:xfrm>
          <a:prstGeom prst="rect">
            <a:avLst/>
          </a:prstGeom>
          <a:noFill/>
          <a:ln/>
        </p:spPr>
        <p:txBody>
          <a:bodyPr wrap="square" rtlCol="0" anchor="t"/>
          <a:lstStyle/>
          <a:p>
            <a:pPr marL="0" indent="0" algn="ctr">
              <a:lnSpc>
                <a:spcPct val="110000"/>
              </a:lnSpc>
              <a:buNone/>
            </a:pPr>
            <a:r>
              <a:rPr lang="en-US" sz="1100" dirty="0">
                <a:solidFill>
                  <a:srgbClr val="5C6B7A"/>
                </a:solidFill>
                <a:latin typeface="Times New Roman" panose="02020603050405020304" pitchFamily="18" charset="0"/>
                <a:ea typeface="Calibri" pitchFamily="34" charset="-122"/>
                <a:cs typeface="Times New Roman" panose="02020603050405020304" pitchFamily="18" charset="0"/>
              </a:rPr>
              <a:t>Managing solar and wind inverter output.</a:t>
            </a:r>
            <a:endParaRPr lang="en-US" sz="1100" dirty="0">
              <a:latin typeface="Times New Roman" panose="02020603050405020304" pitchFamily="18" charset="0"/>
              <a:cs typeface="Times New Roman" panose="02020603050405020304" pitchFamily="18" charset="0"/>
            </a:endParaRPr>
          </a:p>
        </p:txBody>
      </p:sp>
      <p:sp>
        <p:nvSpPr>
          <p:cNvPr id="23" name="Shape 17"/>
          <p:cNvSpPr/>
          <p:nvPr/>
        </p:nvSpPr>
        <p:spPr>
          <a:xfrm>
            <a:off x="4389120" y="3657600"/>
            <a:ext cx="3566160" cy="1920240"/>
          </a:xfrm>
          <a:prstGeom prst="roundRect">
            <a:avLst>
              <a:gd name="adj" fmla="val 4762"/>
            </a:avLst>
          </a:prstGeom>
          <a:solidFill>
            <a:srgbClr val="F7F9FC"/>
          </a:solidFill>
          <a:ln/>
        </p:spPr>
      </p:sp>
      <p:sp>
        <p:nvSpPr>
          <p:cNvPr id="24" name="Shape 18"/>
          <p:cNvSpPr/>
          <p:nvPr/>
        </p:nvSpPr>
        <p:spPr>
          <a:xfrm>
            <a:off x="5806440" y="3886200"/>
            <a:ext cx="731520" cy="731520"/>
          </a:xfrm>
          <a:prstGeom prst="ellipse">
            <a:avLst/>
          </a:prstGeom>
          <a:solidFill>
            <a:srgbClr val="3E6D9C"/>
          </a:solidFill>
          <a:ln/>
        </p:spPr>
      </p:sp>
      <p:pic>
        <p:nvPicPr>
          <p:cNvPr id="25" name="Image 4" descr="/home/claude/voltage_sensor/icon_battery.png"/>
          <p:cNvPicPr>
            <a:picLocks noChangeAspect="1"/>
          </p:cNvPicPr>
          <p:nvPr/>
        </p:nvPicPr>
        <p:blipFill>
          <a:blip r:embed="rId7"/>
          <a:stretch>
            <a:fillRect/>
          </a:stretch>
        </p:blipFill>
        <p:spPr>
          <a:xfrm>
            <a:off x="5989320" y="4069080"/>
            <a:ext cx="365760" cy="365760"/>
          </a:xfrm>
          <a:prstGeom prst="rect">
            <a:avLst/>
          </a:prstGeom>
        </p:spPr>
      </p:pic>
      <p:sp>
        <p:nvSpPr>
          <p:cNvPr id="26" name="Text 19"/>
          <p:cNvSpPr/>
          <p:nvPr/>
        </p:nvSpPr>
        <p:spPr>
          <a:xfrm>
            <a:off x="4526280" y="4681728"/>
            <a:ext cx="3291840" cy="365760"/>
          </a:xfrm>
          <a:prstGeom prst="rect">
            <a:avLst/>
          </a:prstGeom>
          <a:noFill/>
          <a:ln/>
        </p:spPr>
        <p:txBody>
          <a:bodyPr wrap="square" rtlCol="0" anchor="ctr"/>
          <a:lstStyle/>
          <a:p>
            <a:pPr marL="0" indent="0" algn="ctr">
              <a:buNone/>
            </a:pPr>
            <a:r>
              <a:rPr lang="en-US" sz="1450" b="1" dirty="0">
                <a:solidFill>
                  <a:srgbClr val="1B2A4A"/>
                </a:solidFill>
                <a:latin typeface="Times New Roman" panose="02020603050405020304" pitchFamily="18" charset="0"/>
                <a:ea typeface="Calibri" pitchFamily="34" charset="-122"/>
                <a:cs typeface="Times New Roman" panose="02020603050405020304" pitchFamily="18" charset="0"/>
              </a:rPr>
              <a:t>Battery Management</a:t>
            </a:r>
            <a:endParaRPr lang="en-US" sz="1450" dirty="0">
              <a:latin typeface="Times New Roman" panose="02020603050405020304" pitchFamily="18" charset="0"/>
              <a:cs typeface="Times New Roman" panose="02020603050405020304" pitchFamily="18" charset="0"/>
            </a:endParaRPr>
          </a:p>
        </p:txBody>
      </p:sp>
      <p:sp>
        <p:nvSpPr>
          <p:cNvPr id="27" name="Text 20"/>
          <p:cNvSpPr/>
          <p:nvPr/>
        </p:nvSpPr>
        <p:spPr>
          <a:xfrm>
            <a:off x="4572000" y="5047488"/>
            <a:ext cx="3200400" cy="502920"/>
          </a:xfrm>
          <a:prstGeom prst="rect">
            <a:avLst/>
          </a:prstGeom>
          <a:noFill/>
          <a:ln/>
        </p:spPr>
        <p:txBody>
          <a:bodyPr wrap="square" rtlCol="0" anchor="t"/>
          <a:lstStyle/>
          <a:p>
            <a:pPr marL="0" indent="0" algn="ctr">
              <a:lnSpc>
                <a:spcPct val="110000"/>
              </a:lnSpc>
              <a:buNone/>
            </a:pPr>
            <a:r>
              <a:rPr lang="en-US" sz="1100" dirty="0">
                <a:solidFill>
                  <a:srgbClr val="5C6B7A"/>
                </a:solidFill>
                <a:latin typeface="Times New Roman" panose="02020603050405020304" pitchFamily="18" charset="0"/>
                <a:ea typeface="Calibri" pitchFamily="34" charset="-122"/>
                <a:cs typeface="Times New Roman" panose="02020603050405020304" pitchFamily="18" charset="0"/>
              </a:rPr>
              <a:t>Balancing and protecting battery cells.</a:t>
            </a:r>
            <a:endParaRPr lang="en-US" sz="1100" dirty="0">
              <a:latin typeface="Times New Roman" panose="02020603050405020304" pitchFamily="18" charset="0"/>
              <a:cs typeface="Times New Roman" panose="02020603050405020304" pitchFamily="18" charset="0"/>
            </a:endParaRPr>
          </a:p>
        </p:txBody>
      </p:sp>
      <p:sp>
        <p:nvSpPr>
          <p:cNvPr id="28" name="Shape 21"/>
          <p:cNvSpPr/>
          <p:nvPr/>
        </p:nvSpPr>
        <p:spPr>
          <a:xfrm>
            <a:off x="8229600" y="3657600"/>
            <a:ext cx="3566160" cy="1920240"/>
          </a:xfrm>
          <a:prstGeom prst="roundRect">
            <a:avLst>
              <a:gd name="adj" fmla="val 4762"/>
            </a:avLst>
          </a:prstGeom>
          <a:solidFill>
            <a:srgbClr val="F7F9FC"/>
          </a:solidFill>
          <a:ln/>
        </p:spPr>
      </p:sp>
      <p:sp>
        <p:nvSpPr>
          <p:cNvPr id="29" name="Shape 22"/>
          <p:cNvSpPr/>
          <p:nvPr/>
        </p:nvSpPr>
        <p:spPr>
          <a:xfrm>
            <a:off x="9646920" y="3886200"/>
            <a:ext cx="731520" cy="731520"/>
          </a:xfrm>
          <a:prstGeom prst="ellipse">
            <a:avLst/>
          </a:prstGeom>
          <a:solidFill>
            <a:srgbClr val="3E6D9C"/>
          </a:solidFill>
          <a:ln/>
        </p:spPr>
      </p:sp>
      <p:pic>
        <p:nvPicPr>
          <p:cNvPr id="30" name="Image 5" descr="/home/claude/voltage_sensor/icon_cogs.png"/>
          <p:cNvPicPr>
            <a:picLocks noChangeAspect="1"/>
          </p:cNvPicPr>
          <p:nvPr/>
        </p:nvPicPr>
        <p:blipFill>
          <a:blip r:embed="rId8"/>
          <a:stretch>
            <a:fillRect/>
          </a:stretch>
        </p:blipFill>
        <p:spPr>
          <a:xfrm>
            <a:off x="9829800" y="4069080"/>
            <a:ext cx="365760" cy="365760"/>
          </a:xfrm>
          <a:prstGeom prst="rect">
            <a:avLst/>
          </a:prstGeom>
        </p:spPr>
      </p:pic>
      <p:sp>
        <p:nvSpPr>
          <p:cNvPr id="31" name="Text 23"/>
          <p:cNvSpPr/>
          <p:nvPr/>
        </p:nvSpPr>
        <p:spPr>
          <a:xfrm>
            <a:off x="8366760" y="4681728"/>
            <a:ext cx="3291840" cy="365760"/>
          </a:xfrm>
          <a:prstGeom prst="rect">
            <a:avLst/>
          </a:prstGeom>
          <a:noFill/>
          <a:ln/>
        </p:spPr>
        <p:txBody>
          <a:bodyPr wrap="square" rtlCol="0" anchor="ctr"/>
          <a:lstStyle/>
          <a:p>
            <a:pPr marL="0" indent="0" algn="ctr">
              <a:buNone/>
            </a:pPr>
            <a:r>
              <a:rPr lang="en-US" sz="1450" b="1" dirty="0">
                <a:solidFill>
                  <a:srgbClr val="1B2A4A"/>
                </a:solidFill>
                <a:latin typeface="Times New Roman" panose="02020603050405020304" pitchFamily="18" charset="0"/>
                <a:ea typeface="Calibri" pitchFamily="34" charset="-122"/>
                <a:cs typeface="Times New Roman" panose="02020603050405020304" pitchFamily="18" charset="0"/>
              </a:rPr>
              <a:t>Consumer Electronics</a:t>
            </a:r>
            <a:endParaRPr lang="en-US" sz="1450" dirty="0">
              <a:latin typeface="Times New Roman" panose="02020603050405020304" pitchFamily="18" charset="0"/>
              <a:cs typeface="Times New Roman" panose="02020603050405020304" pitchFamily="18" charset="0"/>
            </a:endParaRPr>
          </a:p>
        </p:txBody>
      </p:sp>
      <p:sp>
        <p:nvSpPr>
          <p:cNvPr id="32" name="Text 24"/>
          <p:cNvSpPr/>
          <p:nvPr/>
        </p:nvSpPr>
        <p:spPr>
          <a:xfrm>
            <a:off x="8412480" y="5047488"/>
            <a:ext cx="3200400" cy="502920"/>
          </a:xfrm>
          <a:prstGeom prst="rect">
            <a:avLst/>
          </a:prstGeom>
          <a:noFill/>
          <a:ln/>
        </p:spPr>
        <p:txBody>
          <a:bodyPr wrap="square" rtlCol="0" anchor="t"/>
          <a:lstStyle/>
          <a:p>
            <a:pPr marL="0" indent="0" algn="ctr">
              <a:lnSpc>
                <a:spcPct val="110000"/>
              </a:lnSpc>
              <a:buNone/>
            </a:pPr>
            <a:r>
              <a:rPr lang="en-US" sz="1100" dirty="0">
                <a:solidFill>
                  <a:srgbClr val="5C6B7A"/>
                </a:solidFill>
                <a:latin typeface="Times New Roman" panose="02020603050405020304" pitchFamily="18" charset="0"/>
                <a:ea typeface="Calibri" pitchFamily="34" charset="-122"/>
                <a:cs typeface="Times New Roman" panose="02020603050405020304" pitchFamily="18" charset="0"/>
              </a:rPr>
              <a:t>Safe voltage regulation in everyday devices.</a:t>
            </a:r>
            <a:endParaRPr lang="en-US" sz="1100" dirty="0">
              <a:latin typeface="Times New Roman" panose="02020603050405020304" pitchFamily="18" charset="0"/>
              <a:cs typeface="Times New Roman" panose="02020603050405020304" pitchFamily="18" charset="0"/>
            </a:endParaRPr>
          </a:p>
        </p:txBody>
      </p:sp>
      <p:sp>
        <p:nvSpPr>
          <p:cNvPr id="33" name="Text 25"/>
          <p:cNvSpPr/>
          <p:nvPr/>
        </p:nvSpPr>
        <p:spPr>
          <a:xfrm>
            <a:off x="457200" y="6537960"/>
            <a:ext cx="3657600" cy="274320"/>
          </a:xfrm>
          <a:prstGeom prst="rect">
            <a:avLst/>
          </a:prstGeom>
          <a:noFill/>
          <a:ln/>
        </p:spPr>
        <p:txBody>
          <a:bodyPr wrap="square" rtlCol="0" anchor="ctr"/>
          <a:lstStyle/>
          <a:p>
            <a:pPr marL="0" indent="0">
              <a:buNone/>
            </a:pPr>
            <a:r>
              <a:rPr lang="en-US" sz="900" i="1" dirty="0">
                <a:solidFill>
                  <a:srgbClr val="A9B4C2"/>
                </a:solidFill>
                <a:latin typeface="Times New Roman" panose="02020603050405020304" pitchFamily="18" charset="0"/>
                <a:ea typeface="Calibri" pitchFamily="34" charset="-122"/>
                <a:cs typeface="Times New Roman" panose="02020603050405020304" pitchFamily="18" charset="0"/>
              </a:rPr>
              <a:t>VOLTAGE SENSOR</a:t>
            </a:r>
            <a:endParaRPr lang="en-US" sz="900" dirty="0">
              <a:latin typeface="Times New Roman" panose="02020603050405020304" pitchFamily="18" charset="0"/>
              <a:cs typeface="Times New Roman" panose="02020603050405020304" pitchFamily="18" charset="0"/>
            </a:endParaRPr>
          </a:p>
        </p:txBody>
      </p:sp>
      <p:sp>
        <p:nvSpPr>
          <p:cNvPr id="34" name="Text 26"/>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A9B4C2"/>
                </a:solidFill>
                <a:latin typeface="Times New Roman" panose="02020603050405020304" pitchFamily="18" charset="0"/>
                <a:ea typeface="Calibri" pitchFamily="34" charset="-122"/>
                <a:cs typeface="Times New Roman" panose="02020603050405020304" pitchFamily="18" charset="0"/>
              </a:rPr>
              <a:t>10</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3200" b="1" dirty="0">
                <a:solidFill>
                  <a:srgbClr val="1B2A4A"/>
                </a:solidFill>
                <a:latin typeface="Times New Roman" panose="02020603050405020304" pitchFamily="18" charset="0"/>
                <a:ea typeface="Cambria" pitchFamily="34" charset="-122"/>
                <a:cs typeface="Times New Roman" panose="02020603050405020304" pitchFamily="18" charset="0"/>
              </a:rPr>
              <a:t>Advantages &amp; Limitations</a:t>
            </a:r>
            <a:endParaRPr lang="en-US" sz="3200" dirty="0">
              <a:latin typeface="Times New Roman" panose="02020603050405020304" pitchFamily="18" charset="0"/>
              <a:cs typeface="Times New Roman" panose="02020603050405020304" pitchFamily="18" charset="0"/>
            </a:endParaRPr>
          </a:p>
        </p:txBody>
      </p:sp>
      <p:sp>
        <p:nvSpPr>
          <p:cNvPr id="3" name="Shape 1"/>
          <p:cNvSpPr/>
          <p:nvPr/>
        </p:nvSpPr>
        <p:spPr>
          <a:xfrm>
            <a:off x="548640" y="1371600"/>
            <a:ext cx="5349240" cy="4663440"/>
          </a:xfrm>
          <a:prstGeom prst="roundRect">
            <a:avLst>
              <a:gd name="adj" fmla="val 1961"/>
            </a:avLst>
          </a:prstGeom>
          <a:solidFill>
            <a:srgbClr val="EAF6F0"/>
          </a:solidFill>
          <a:ln/>
        </p:spPr>
      </p:sp>
      <p:sp>
        <p:nvSpPr>
          <p:cNvPr id="4" name="Shape 2"/>
          <p:cNvSpPr/>
          <p:nvPr/>
        </p:nvSpPr>
        <p:spPr>
          <a:xfrm>
            <a:off x="868680" y="1691640"/>
            <a:ext cx="548640" cy="548640"/>
          </a:xfrm>
          <a:prstGeom prst="ellipse">
            <a:avLst/>
          </a:prstGeom>
          <a:solidFill>
            <a:srgbClr val="2C8659"/>
          </a:solidFill>
          <a:ln/>
        </p:spPr>
      </p:sp>
      <p:pic>
        <p:nvPicPr>
          <p:cNvPr id="5" name="Image 0" descr="/home/claude/voltage_sensor/icon_check.png"/>
          <p:cNvPicPr>
            <a:picLocks noChangeAspect="1"/>
          </p:cNvPicPr>
          <p:nvPr/>
        </p:nvPicPr>
        <p:blipFill>
          <a:blip r:embed="rId3"/>
          <a:stretch>
            <a:fillRect/>
          </a:stretch>
        </p:blipFill>
        <p:spPr>
          <a:xfrm>
            <a:off x="992124" y="1815084"/>
            <a:ext cx="301752" cy="301752"/>
          </a:xfrm>
          <a:prstGeom prst="rect">
            <a:avLst/>
          </a:prstGeom>
        </p:spPr>
      </p:pic>
      <p:sp>
        <p:nvSpPr>
          <p:cNvPr id="6" name="Text 3"/>
          <p:cNvSpPr/>
          <p:nvPr/>
        </p:nvSpPr>
        <p:spPr>
          <a:xfrm>
            <a:off x="1600200" y="1737360"/>
            <a:ext cx="3657600" cy="457200"/>
          </a:xfrm>
          <a:prstGeom prst="rect">
            <a:avLst/>
          </a:prstGeom>
          <a:noFill/>
          <a:ln/>
        </p:spPr>
        <p:txBody>
          <a:bodyPr wrap="square" rtlCol="0" anchor="ctr"/>
          <a:lstStyle/>
          <a:p>
            <a:pPr marL="0" indent="0">
              <a:buNone/>
            </a:pPr>
            <a:r>
              <a:rPr lang="en-US" sz="1800" b="1" dirty="0">
                <a:solidFill>
                  <a:srgbClr val="2C8659"/>
                </a:solidFill>
                <a:latin typeface="Times New Roman" panose="02020603050405020304" pitchFamily="18" charset="0"/>
                <a:ea typeface="Calibri" pitchFamily="34" charset="-122"/>
                <a:cs typeface="Times New Roman" panose="02020603050405020304" pitchFamily="18" charset="0"/>
              </a:rPr>
              <a:t>Advantages</a:t>
            </a:r>
            <a:endParaRPr lang="en-US" sz="1800" dirty="0">
              <a:latin typeface="Times New Roman" panose="02020603050405020304" pitchFamily="18" charset="0"/>
              <a:cs typeface="Times New Roman" panose="02020603050405020304" pitchFamily="18" charset="0"/>
            </a:endParaRPr>
          </a:p>
        </p:txBody>
      </p:sp>
      <p:sp>
        <p:nvSpPr>
          <p:cNvPr id="7" name="Text 4"/>
          <p:cNvSpPr/>
          <p:nvPr/>
        </p:nvSpPr>
        <p:spPr>
          <a:xfrm>
            <a:off x="868680" y="2423160"/>
            <a:ext cx="4709160" cy="3383280"/>
          </a:xfrm>
          <a:prstGeom prst="rect">
            <a:avLst/>
          </a:prstGeom>
          <a:noFill/>
          <a:ln/>
        </p:spPr>
        <p:txBody>
          <a:bodyPr wrap="square" rtlCol="0" anchor="t"/>
          <a:lstStyle/>
          <a:p>
            <a:pPr marL="342900" indent="-342900">
              <a:lnSpc>
                <a:spcPct val="115000"/>
              </a:lnSpc>
              <a:spcAft>
                <a:spcPts val="1000"/>
              </a:spcAft>
              <a:buSzPct val="100000"/>
              <a:buChar char="•"/>
            </a:pPr>
            <a:r>
              <a:rPr lang="en-US" sz="1350" dirty="0">
                <a:solidFill>
                  <a:srgbClr val="1B2A4A"/>
                </a:solidFill>
                <a:latin typeface="Times New Roman" panose="02020603050405020304" pitchFamily="18" charset="0"/>
                <a:ea typeface="Calibri" pitchFamily="34" charset="-122"/>
                <a:cs typeface="Times New Roman" panose="02020603050405020304" pitchFamily="18" charset="0"/>
              </a:rPr>
              <a:t>Enables safe, contact-free measurement of high voltages</a:t>
            </a:r>
            <a:endParaRPr lang="en-US" sz="1350" dirty="0">
              <a:latin typeface="Times New Roman" panose="02020603050405020304" pitchFamily="18" charset="0"/>
              <a:cs typeface="Times New Roman" panose="02020603050405020304" pitchFamily="18" charset="0"/>
            </a:endParaRPr>
          </a:p>
          <a:p>
            <a:pPr marL="342900" indent="-342900">
              <a:lnSpc>
                <a:spcPct val="115000"/>
              </a:lnSpc>
              <a:spcAft>
                <a:spcPts val="1000"/>
              </a:spcAft>
              <a:buSzPct val="100000"/>
              <a:buChar char="•"/>
            </a:pPr>
            <a:r>
              <a:rPr lang="en-US" sz="1350" dirty="0">
                <a:solidFill>
                  <a:srgbClr val="1B2A4A"/>
                </a:solidFill>
                <a:latin typeface="Times New Roman" panose="02020603050405020304" pitchFamily="18" charset="0"/>
                <a:ea typeface="Calibri" pitchFamily="34" charset="-122"/>
                <a:cs typeface="Times New Roman" panose="02020603050405020304" pitchFamily="18" charset="0"/>
              </a:rPr>
              <a:t>Real-time monitoring supports fast protection response</a:t>
            </a:r>
            <a:endParaRPr lang="en-US" sz="1350" dirty="0">
              <a:latin typeface="Times New Roman" panose="02020603050405020304" pitchFamily="18" charset="0"/>
              <a:cs typeface="Times New Roman" panose="02020603050405020304" pitchFamily="18" charset="0"/>
            </a:endParaRPr>
          </a:p>
          <a:p>
            <a:pPr marL="342900" indent="-342900">
              <a:lnSpc>
                <a:spcPct val="115000"/>
              </a:lnSpc>
              <a:spcAft>
                <a:spcPts val="1000"/>
              </a:spcAft>
              <a:buSzPct val="100000"/>
              <a:buChar char="•"/>
            </a:pPr>
            <a:r>
              <a:rPr lang="en-US" sz="1350" dirty="0">
                <a:solidFill>
                  <a:srgbClr val="1B2A4A"/>
                </a:solidFill>
                <a:latin typeface="Times New Roman" panose="02020603050405020304" pitchFamily="18" charset="0"/>
                <a:ea typeface="Calibri" pitchFamily="34" charset="-122"/>
                <a:cs typeface="Times New Roman" panose="02020603050405020304" pitchFamily="18" charset="0"/>
              </a:rPr>
              <a:t>Compact and available for a wide range of voltage levels</a:t>
            </a:r>
            <a:endParaRPr lang="en-US" sz="1350" dirty="0">
              <a:latin typeface="Times New Roman" panose="02020603050405020304" pitchFamily="18" charset="0"/>
              <a:cs typeface="Times New Roman" panose="02020603050405020304" pitchFamily="18" charset="0"/>
            </a:endParaRPr>
          </a:p>
          <a:p>
            <a:pPr marL="342900" indent="-342900">
              <a:lnSpc>
                <a:spcPct val="115000"/>
              </a:lnSpc>
              <a:buSzPct val="100000"/>
              <a:buChar char="•"/>
            </a:pPr>
            <a:r>
              <a:rPr lang="en-US" sz="1350" dirty="0">
                <a:solidFill>
                  <a:srgbClr val="1B2A4A"/>
                </a:solidFill>
                <a:latin typeface="Times New Roman" panose="02020603050405020304" pitchFamily="18" charset="0"/>
                <a:ea typeface="Calibri" pitchFamily="34" charset="-122"/>
                <a:cs typeface="Times New Roman" panose="02020603050405020304" pitchFamily="18" charset="0"/>
              </a:rPr>
              <a:t>Improves system efficiency through accurate feedback</a:t>
            </a:r>
            <a:endParaRPr lang="en-US" sz="1350" dirty="0">
              <a:latin typeface="Times New Roman" panose="02020603050405020304" pitchFamily="18" charset="0"/>
              <a:cs typeface="Times New Roman" panose="02020603050405020304" pitchFamily="18" charset="0"/>
            </a:endParaRPr>
          </a:p>
        </p:txBody>
      </p:sp>
      <p:sp>
        <p:nvSpPr>
          <p:cNvPr id="8" name="Shape 5"/>
          <p:cNvSpPr/>
          <p:nvPr/>
        </p:nvSpPr>
        <p:spPr>
          <a:xfrm>
            <a:off x="6263640" y="1371600"/>
            <a:ext cx="5349240" cy="4663440"/>
          </a:xfrm>
          <a:prstGeom prst="roundRect">
            <a:avLst>
              <a:gd name="adj" fmla="val 1961"/>
            </a:avLst>
          </a:prstGeom>
          <a:solidFill>
            <a:srgbClr val="FBEAEA"/>
          </a:solidFill>
          <a:ln/>
        </p:spPr>
      </p:sp>
      <p:sp>
        <p:nvSpPr>
          <p:cNvPr id="9" name="Shape 6"/>
          <p:cNvSpPr/>
          <p:nvPr/>
        </p:nvSpPr>
        <p:spPr>
          <a:xfrm>
            <a:off x="6583680" y="1691640"/>
            <a:ext cx="548640" cy="548640"/>
          </a:xfrm>
          <a:prstGeom prst="ellipse">
            <a:avLst/>
          </a:prstGeom>
          <a:solidFill>
            <a:srgbClr val="B23A48"/>
          </a:solidFill>
          <a:ln/>
        </p:spPr>
      </p:sp>
      <p:pic>
        <p:nvPicPr>
          <p:cNvPr id="10" name="Image 1" descr="/home/claude/voltage_sensor/icon_times.png"/>
          <p:cNvPicPr>
            <a:picLocks noChangeAspect="1"/>
          </p:cNvPicPr>
          <p:nvPr/>
        </p:nvPicPr>
        <p:blipFill>
          <a:blip r:embed="rId4"/>
          <a:stretch>
            <a:fillRect/>
          </a:stretch>
        </p:blipFill>
        <p:spPr>
          <a:xfrm>
            <a:off x="6707124" y="1815084"/>
            <a:ext cx="301752" cy="301752"/>
          </a:xfrm>
          <a:prstGeom prst="rect">
            <a:avLst/>
          </a:prstGeom>
        </p:spPr>
      </p:pic>
      <p:sp>
        <p:nvSpPr>
          <p:cNvPr id="11" name="Text 7"/>
          <p:cNvSpPr/>
          <p:nvPr/>
        </p:nvSpPr>
        <p:spPr>
          <a:xfrm>
            <a:off x="7315200" y="1737360"/>
            <a:ext cx="3657600" cy="457200"/>
          </a:xfrm>
          <a:prstGeom prst="rect">
            <a:avLst/>
          </a:prstGeom>
          <a:noFill/>
          <a:ln/>
        </p:spPr>
        <p:txBody>
          <a:bodyPr wrap="square" rtlCol="0" anchor="ctr"/>
          <a:lstStyle/>
          <a:p>
            <a:pPr marL="0" indent="0">
              <a:buNone/>
            </a:pPr>
            <a:r>
              <a:rPr lang="en-US" sz="1800" b="1" dirty="0">
                <a:solidFill>
                  <a:srgbClr val="B23A48"/>
                </a:solidFill>
                <a:latin typeface="Times New Roman" panose="02020603050405020304" pitchFamily="18" charset="0"/>
                <a:ea typeface="Calibri" pitchFamily="34" charset="-122"/>
                <a:cs typeface="Times New Roman" panose="02020603050405020304" pitchFamily="18" charset="0"/>
              </a:rPr>
              <a:t>Limitations</a:t>
            </a:r>
            <a:endParaRPr lang="en-US" sz="1800" dirty="0">
              <a:latin typeface="Times New Roman" panose="02020603050405020304" pitchFamily="18" charset="0"/>
              <a:cs typeface="Times New Roman" panose="02020603050405020304" pitchFamily="18" charset="0"/>
            </a:endParaRPr>
          </a:p>
        </p:txBody>
      </p:sp>
      <p:sp>
        <p:nvSpPr>
          <p:cNvPr id="12" name="Text 8"/>
          <p:cNvSpPr/>
          <p:nvPr/>
        </p:nvSpPr>
        <p:spPr>
          <a:xfrm>
            <a:off x="6583680" y="2423160"/>
            <a:ext cx="4709160" cy="3383280"/>
          </a:xfrm>
          <a:prstGeom prst="rect">
            <a:avLst/>
          </a:prstGeom>
          <a:noFill/>
          <a:ln/>
        </p:spPr>
        <p:txBody>
          <a:bodyPr wrap="square" rtlCol="0" anchor="t"/>
          <a:lstStyle/>
          <a:p>
            <a:pPr marL="342900" indent="-342900">
              <a:lnSpc>
                <a:spcPct val="115000"/>
              </a:lnSpc>
              <a:spcAft>
                <a:spcPts val="1000"/>
              </a:spcAft>
              <a:buSzPct val="100000"/>
              <a:buChar char="•"/>
            </a:pPr>
            <a:r>
              <a:rPr lang="en-US" sz="1350" dirty="0">
                <a:solidFill>
                  <a:srgbClr val="1B2A4A"/>
                </a:solidFill>
                <a:latin typeface="Times New Roman" panose="02020603050405020304" pitchFamily="18" charset="0"/>
                <a:ea typeface="Calibri" pitchFamily="34" charset="-122"/>
                <a:cs typeface="Times New Roman" panose="02020603050405020304" pitchFamily="18" charset="0"/>
              </a:rPr>
              <a:t>Accuracy can drift with temperature and aging components</a:t>
            </a:r>
            <a:endParaRPr lang="en-US" sz="1350" dirty="0">
              <a:latin typeface="Times New Roman" panose="02020603050405020304" pitchFamily="18" charset="0"/>
              <a:cs typeface="Times New Roman" panose="02020603050405020304" pitchFamily="18" charset="0"/>
            </a:endParaRPr>
          </a:p>
          <a:p>
            <a:pPr marL="342900" indent="-342900">
              <a:lnSpc>
                <a:spcPct val="115000"/>
              </a:lnSpc>
              <a:spcAft>
                <a:spcPts val="1000"/>
              </a:spcAft>
              <a:buSzPct val="100000"/>
              <a:buChar char="•"/>
            </a:pPr>
            <a:r>
              <a:rPr lang="en-US" sz="1350" dirty="0">
                <a:solidFill>
                  <a:srgbClr val="1B2A4A"/>
                </a:solidFill>
                <a:latin typeface="Times New Roman" panose="02020603050405020304" pitchFamily="18" charset="0"/>
                <a:ea typeface="Calibri" pitchFamily="34" charset="-122"/>
                <a:cs typeface="Times New Roman" panose="02020603050405020304" pitchFamily="18" charset="0"/>
              </a:rPr>
              <a:t>Non-isolated types risk exposing control circuits to faults</a:t>
            </a:r>
            <a:endParaRPr lang="en-US" sz="1350" dirty="0">
              <a:latin typeface="Times New Roman" panose="02020603050405020304" pitchFamily="18" charset="0"/>
              <a:cs typeface="Times New Roman" panose="02020603050405020304" pitchFamily="18" charset="0"/>
            </a:endParaRPr>
          </a:p>
          <a:p>
            <a:pPr marL="342900" indent="-342900">
              <a:lnSpc>
                <a:spcPct val="115000"/>
              </a:lnSpc>
              <a:spcAft>
                <a:spcPts val="1000"/>
              </a:spcAft>
              <a:buSzPct val="100000"/>
              <a:buChar char="•"/>
            </a:pPr>
            <a:r>
              <a:rPr lang="en-US" sz="1350" dirty="0">
                <a:solidFill>
                  <a:srgbClr val="1B2A4A"/>
                </a:solidFill>
                <a:latin typeface="Times New Roman" panose="02020603050405020304" pitchFamily="18" charset="0"/>
                <a:ea typeface="Calibri" pitchFamily="34" charset="-122"/>
                <a:cs typeface="Times New Roman" panose="02020603050405020304" pitchFamily="18" charset="0"/>
              </a:rPr>
              <a:t>High-isolation sensors add cost and design complexity</a:t>
            </a:r>
            <a:endParaRPr lang="en-US" sz="1350" dirty="0">
              <a:latin typeface="Times New Roman" panose="02020603050405020304" pitchFamily="18" charset="0"/>
              <a:cs typeface="Times New Roman" panose="02020603050405020304" pitchFamily="18" charset="0"/>
            </a:endParaRPr>
          </a:p>
          <a:p>
            <a:pPr marL="342900" indent="-342900">
              <a:lnSpc>
                <a:spcPct val="115000"/>
              </a:lnSpc>
              <a:buSzPct val="100000"/>
              <a:buChar char="•"/>
            </a:pPr>
            <a:r>
              <a:rPr lang="en-US" sz="1350" dirty="0">
                <a:solidFill>
                  <a:srgbClr val="1B2A4A"/>
                </a:solidFill>
                <a:latin typeface="Times New Roman" panose="02020603050405020304" pitchFamily="18" charset="0"/>
                <a:ea typeface="Calibri" pitchFamily="34" charset="-122"/>
                <a:cs typeface="Times New Roman" panose="02020603050405020304" pitchFamily="18" charset="0"/>
              </a:rPr>
              <a:t>Requires careful calibration for precision applications</a:t>
            </a:r>
            <a:endParaRPr lang="en-US" sz="1350" dirty="0">
              <a:latin typeface="Times New Roman" panose="02020603050405020304" pitchFamily="18" charset="0"/>
              <a:cs typeface="Times New Roman" panose="02020603050405020304" pitchFamily="18" charset="0"/>
            </a:endParaRPr>
          </a:p>
        </p:txBody>
      </p:sp>
      <p:sp>
        <p:nvSpPr>
          <p:cNvPr id="13" name="Text 9"/>
          <p:cNvSpPr/>
          <p:nvPr/>
        </p:nvSpPr>
        <p:spPr>
          <a:xfrm>
            <a:off x="457200" y="6537960"/>
            <a:ext cx="3657600" cy="274320"/>
          </a:xfrm>
          <a:prstGeom prst="rect">
            <a:avLst/>
          </a:prstGeom>
          <a:noFill/>
          <a:ln/>
        </p:spPr>
        <p:txBody>
          <a:bodyPr wrap="square" rtlCol="0" anchor="ctr"/>
          <a:lstStyle/>
          <a:p>
            <a:pPr marL="0" indent="0">
              <a:buNone/>
            </a:pPr>
            <a:r>
              <a:rPr lang="en-US" sz="900" i="1" dirty="0">
                <a:solidFill>
                  <a:srgbClr val="A9B4C2"/>
                </a:solidFill>
                <a:latin typeface="Times New Roman" panose="02020603050405020304" pitchFamily="18" charset="0"/>
                <a:ea typeface="Calibri" pitchFamily="34" charset="-122"/>
                <a:cs typeface="Times New Roman" panose="02020603050405020304" pitchFamily="18" charset="0"/>
              </a:rPr>
              <a:t>VOLTAGE SENSOR</a:t>
            </a:r>
            <a:endParaRPr lang="en-US" sz="900" dirty="0">
              <a:latin typeface="Times New Roman" panose="02020603050405020304" pitchFamily="18" charset="0"/>
              <a:cs typeface="Times New Roman" panose="02020603050405020304" pitchFamily="18" charset="0"/>
            </a:endParaRPr>
          </a:p>
        </p:txBody>
      </p:sp>
      <p:sp>
        <p:nvSpPr>
          <p:cNvPr id="14" name="Text 10"/>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A9B4C2"/>
                </a:solidFill>
                <a:latin typeface="Times New Roman" panose="02020603050405020304" pitchFamily="18" charset="0"/>
                <a:ea typeface="Calibri" pitchFamily="34" charset="-122"/>
                <a:cs typeface="Times New Roman" panose="02020603050405020304" pitchFamily="18" charset="0"/>
              </a:rPr>
              <a:t>11</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966960" y="-1188720"/>
            <a:ext cx="3657600" cy="3657600"/>
          </a:xfrm>
          <a:prstGeom prst="ellipse">
            <a:avLst/>
          </a:prstGeom>
          <a:solidFill>
            <a:srgbClr val="3E6D9C"/>
          </a:solidFill>
          <a:ln/>
        </p:spPr>
      </p:sp>
      <p:sp>
        <p:nvSpPr>
          <p:cNvPr id="3" name="Text 1"/>
          <p:cNvSpPr/>
          <p:nvPr/>
        </p:nvSpPr>
        <p:spPr>
          <a:xfrm>
            <a:off x="548640" y="640080"/>
            <a:ext cx="10972800" cy="731520"/>
          </a:xfrm>
          <a:prstGeom prst="rect">
            <a:avLst/>
          </a:prstGeom>
          <a:noFill/>
          <a:ln/>
        </p:spPr>
        <p:txBody>
          <a:bodyPr wrap="square" rtlCol="0" anchor="ctr"/>
          <a:lstStyle/>
          <a:p>
            <a:pPr marL="0" indent="0">
              <a:buNone/>
            </a:pPr>
            <a:r>
              <a:rPr lang="en-US" sz="3400" b="1" dirty="0">
                <a:solidFill>
                  <a:srgbClr val="FFFFFF"/>
                </a:solidFill>
                <a:latin typeface="Times New Roman" panose="02020603050405020304" pitchFamily="18" charset="0"/>
                <a:ea typeface="Cambria" pitchFamily="34" charset="-122"/>
                <a:cs typeface="Times New Roman" panose="02020603050405020304" pitchFamily="18" charset="0"/>
              </a:rPr>
              <a:t>Key Takeaways</a:t>
            </a:r>
            <a:endParaRPr lang="en-US" sz="3400" dirty="0">
              <a:latin typeface="Times New Roman" panose="02020603050405020304" pitchFamily="18" charset="0"/>
              <a:cs typeface="Times New Roman" panose="02020603050405020304" pitchFamily="18" charset="0"/>
            </a:endParaRPr>
          </a:p>
        </p:txBody>
      </p:sp>
      <p:sp>
        <p:nvSpPr>
          <p:cNvPr id="4" name="Shape 2"/>
          <p:cNvSpPr/>
          <p:nvPr/>
        </p:nvSpPr>
        <p:spPr>
          <a:xfrm>
            <a:off x="548640" y="1737360"/>
            <a:ext cx="640080" cy="640080"/>
          </a:xfrm>
          <a:prstGeom prst="ellipse">
            <a:avLst/>
          </a:prstGeom>
          <a:solidFill>
            <a:srgbClr val="FFB627"/>
          </a:solidFill>
          <a:ln/>
        </p:spPr>
      </p:sp>
      <p:pic>
        <p:nvPicPr>
          <p:cNvPr id="5" name="Image 0" descr="/home/claude/voltage_sensor/icon_bolt.png"/>
          <p:cNvPicPr>
            <a:picLocks noChangeAspect="1"/>
          </p:cNvPicPr>
          <p:nvPr/>
        </p:nvPicPr>
        <p:blipFill>
          <a:blip r:embed="rId3"/>
          <a:stretch>
            <a:fillRect/>
          </a:stretch>
        </p:blipFill>
        <p:spPr>
          <a:xfrm>
            <a:off x="708660" y="1897380"/>
            <a:ext cx="320040" cy="320040"/>
          </a:xfrm>
          <a:prstGeom prst="rect">
            <a:avLst/>
          </a:prstGeom>
        </p:spPr>
      </p:pic>
      <p:sp>
        <p:nvSpPr>
          <p:cNvPr id="6" name="Text 3"/>
          <p:cNvSpPr/>
          <p:nvPr/>
        </p:nvSpPr>
        <p:spPr>
          <a:xfrm>
            <a:off x="1417320" y="1737360"/>
            <a:ext cx="10058400" cy="640080"/>
          </a:xfrm>
          <a:prstGeom prst="rect">
            <a:avLst/>
          </a:prstGeom>
          <a:noFill/>
          <a:ln/>
        </p:spPr>
        <p:txBody>
          <a:bodyPr wrap="square" rtlCol="0" anchor="ctr"/>
          <a:lstStyle/>
          <a:p>
            <a:pPr marL="0" indent="0">
              <a:buNone/>
            </a:pPr>
            <a:r>
              <a:rPr lang="en-US" sz="1600" dirty="0">
                <a:solidFill>
                  <a:srgbClr val="E6ECF5"/>
                </a:solidFill>
                <a:latin typeface="Times New Roman" panose="02020603050405020304" pitchFamily="18" charset="0"/>
                <a:ea typeface="Calibri" pitchFamily="34" charset="-122"/>
                <a:cs typeface="Times New Roman" panose="02020603050405020304" pitchFamily="18" charset="0"/>
              </a:rPr>
              <a:t>A voltage sensor converts high or hazardous voltage into a small, safe, measurable signal.</a:t>
            </a:r>
            <a:endParaRPr lang="en-US" sz="1600" dirty="0">
              <a:latin typeface="Times New Roman" panose="02020603050405020304" pitchFamily="18" charset="0"/>
              <a:cs typeface="Times New Roman" panose="02020603050405020304" pitchFamily="18" charset="0"/>
            </a:endParaRPr>
          </a:p>
        </p:txBody>
      </p:sp>
      <p:sp>
        <p:nvSpPr>
          <p:cNvPr id="7" name="Shape 4"/>
          <p:cNvSpPr/>
          <p:nvPr/>
        </p:nvSpPr>
        <p:spPr>
          <a:xfrm>
            <a:off x="548640" y="2697480"/>
            <a:ext cx="640080" cy="640080"/>
          </a:xfrm>
          <a:prstGeom prst="ellipse">
            <a:avLst/>
          </a:prstGeom>
          <a:solidFill>
            <a:srgbClr val="FFB627"/>
          </a:solidFill>
          <a:ln/>
        </p:spPr>
      </p:sp>
      <p:pic>
        <p:nvPicPr>
          <p:cNvPr id="8" name="Image 1" descr="/home/claude/voltage_sensor/icon_cogs.png"/>
          <p:cNvPicPr>
            <a:picLocks noChangeAspect="1"/>
          </p:cNvPicPr>
          <p:nvPr/>
        </p:nvPicPr>
        <p:blipFill>
          <a:blip r:embed="rId4"/>
          <a:stretch>
            <a:fillRect/>
          </a:stretch>
        </p:blipFill>
        <p:spPr>
          <a:xfrm>
            <a:off x="708660" y="2857500"/>
            <a:ext cx="320040" cy="320040"/>
          </a:xfrm>
          <a:prstGeom prst="rect">
            <a:avLst/>
          </a:prstGeom>
        </p:spPr>
      </p:pic>
      <p:sp>
        <p:nvSpPr>
          <p:cNvPr id="9" name="Text 5"/>
          <p:cNvSpPr/>
          <p:nvPr/>
        </p:nvSpPr>
        <p:spPr>
          <a:xfrm>
            <a:off x="1417320" y="2697480"/>
            <a:ext cx="10058400" cy="640080"/>
          </a:xfrm>
          <a:prstGeom prst="rect">
            <a:avLst/>
          </a:prstGeom>
          <a:noFill/>
          <a:ln/>
        </p:spPr>
        <p:txBody>
          <a:bodyPr wrap="square" rtlCol="0" anchor="ctr"/>
          <a:lstStyle/>
          <a:p>
            <a:pPr marL="0" indent="0">
              <a:buNone/>
            </a:pPr>
            <a:r>
              <a:rPr lang="en-US" sz="1600" dirty="0">
                <a:solidFill>
                  <a:srgbClr val="E6ECF5"/>
                </a:solidFill>
                <a:latin typeface="Times New Roman" panose="02020603050405020304" pitchFamily="18" charset="0"/>
                <a:ea typeface="Calibri" pitchFamily="34" charset="-122"/>
                <a:cs typeface="Times New Roman" panose="02020603050405020304" pitchFamily="18" charset="0"/>
              </a:rPr>
              <a:t>Common types include resistive dividers, Hall effect, optical, and capacitive sensors.</a:t>
            </a:r>
            <a:endParaRPr lang="en-US" sz="1600" dirty="0">
              <a:latin typeface="Times New Roman" panose="02020603050405020304" pitchFamily="18" charset="0"/>
              <a:cs typeface="Times New Roman" panose="02020603050405020304" pitchFamily="18" charset="0"/>
            </a:endParaRPr>
          </a:p>
        </p:txBody>
      </p:sp>
      <p:sp>
        <p:nvSpPr>
          <p:cNvPr id="10" name="Shape 6"/>
          <p:cNvSpPr/>
          <p:nvPr/>
        </p:nvSpPr>
        <p:spPr>
          <a:xfrm>
            <a:off x="548640" y="3657600"/>
            <a:ext cx="640080" cy="640080"/>
          </a:xfrm>
          <a:prstGeom prst="ellipse">
            <a:avLst/>
          </a:prstGeom>
          <a:solidFill>
            <a:srgbClr val="FFB627"/>
          </a:solidFill>
          <a:ln/>
        </p:spPr>
      </p:sp>
      <p:pic>
        <p:nvPicPr>
          <p:cNvPr id="11" name="Image 2" descr="/home/claude/voltage_sensor/icon_shield.png"/>
          <p:cNvPicPr>
            <a:picLocks noChangeAspect="1"/>
          </p:cNvPicPr>
          <p:nvPr/>
        </p:nvPicPr>
        <p:blipFill>
          <a:blip r:embed="rId5"/>
          <a:stretch>
            <a:fillRect/>
          </a:stretch>
        </p:blipFill>
        <p:spPr>
          <a:xfrm>
            <a:off x="708660" y="3817620"/>
            <a:ext cx="320040" cy="320040"/>
          </a:xfrm>
          <a:prstGeom prst="rect">
            <a:avLst/>
          </a:prstGeom>
        </p:spPr>
      </p:pic>
      <p:sp>
        <p:nvSpPr>
          <p:cNvPr id="12" name="Text 7"/>
          <p:cNvSpPr/>
          <p:nvPr/>
        </p:nvSpPr>
        <p:spPr>
          <a:xfrm>
            <a:off x="1417320" y="3657600"/>
            <a:ext cx="10058400" cy="640080"/>
          </a:xfrm>
          <a:prstGeom prst="rect">
            <a:avLst/>
          </a:prstGeom>
          <a:noFill/>
          <a:ln/>
        </p:spPr>
        <p:txBody>
          <a:bodyPr wrap="square" rtlCol="0" anchor="ctr"/>
          <a:lstStyle/>
          <a:p>
            <a:pPr marL="0" indent="0">
              <a:buNone/>
            </a:pPr>
            <a:r>
              <a:rPr lang="en-US" sz="1600" dirty="0">
                <a:solidFill>
                  <a:srgbClr val="E6ECF5"/>
                </a:solidFill>
                <a:latin typeface="Times New Roman" panose="02020603050405020304" pitchFamily="18" charset="0"/>
                <a:ea typeface="Calibri" pitchFamily="34" charset="-122"/>
                <a:cs typeface="Times New Roman" panose="02020603050405020304" pitchFamily="18" charset="0"/>
              </a:rPr>
              <a:t>Isolation, accuracy, range, and response time drive the right choice for an application.</a:t>
            </a:r>
            <a:endParaRPr lang="en-US" sz="1600" dirty="0">
              <a:latin typeface="Times New Roman" panose="02020603050405020304" pitchFamily="18" charset="0"/>
              <a:cs typeface="Times New Roman" panose="02020603050405020304" pitchFamily="18" charset="0"/>
            </a:endParaRPr>
          </a:p>
        </p:txBody>
      </p:sp>
      <p:sp>
        <p:nvSpPr>
          <p:cNvPr id="13" name="Shape 8"/>
          <p:cNvSpPr/>
          <p:nvPr/>
        </p:nvSpPr>
        <p:spPr>
          <a:xfrm>
            <a:off x="548640" y="4617720"/>
            <a:ext cx="640080" cy="640080"/>
          </a:xfrm>
          <a:prstGeom prst="ellipse">
            <a:avLst/>
          </a:prstGeom>
          <a:solidFill>
            <a:srgbClr val="FFB627"/>
          </a:solidFill>
          <a:ln/>
        </p:spPr>
      </p:sp>
      <p:pic>
        <p:nvPicPr>
          <p:cNvPr id="14" name="Image 3" descr="/home/claude/voltage_sensor/icon_network.png"/>
          <p:cNvPicPr>
            <a:picLocks noChangeAspect="1"/>
          </p:cNvPicPr>
          <p:nvPr/>
        </p:nvPicPr>
        <p:blipFill>
          <a:blip r:embed="rId6"/>
          <a:stretch>
            <a:fillRect/>
          </a:stretch>
        </p:blipFill>
        <p:spPr>
          <a:xfrm>
            <a:off x="708660" y="4777740"/>
            <a:ext cx="320040" cy="320040"/>
          </a:xfrm>
          <a:prstGeom prst="rect">
            <a:avLst/>
          </a:prstGeom>
        </p:spPr>
      </p:pic>
      <p:sp>
        <p:nvSpPr>
          <p:cNvPr id="15" name="Text 9"/>
          <p:cNvSpPr/>
          <p:nvPr/>
        </p:nvSpPr>
        <p:spPr>
          <a:xfrm>
            <a:off x="1417320" y="4617720"/>
            <a:ext cx="10058400" cy="640080"/>
          </a:xfrm>
          <a:prstGeom prst="rect">
            <a:avLst/>
          </a:prstGeom>
          <a:noFill/>
          <a:ln/>
        </p:spPr>
        <p:txBody>
          <a:bodyPr wrap="square" rtlCol="0" anchor="ctr"/>
          <a:lstStyle/>
          <a:p>
            <a:pPr marL="0" indent="0">
              <a:buNone/>
            </a:pPr>
            <a:r>
              <a:rPr lang="en-US" sz="1600" dirty="0">
                <a:solidFill>
                  <a:srgbClr val="E6ECF5"/>
                </a:solidFill>
                <a:latin typeface="Times New Roman" panose="02020603050405020304" pitchFamily="18" charset="0"/>
                <a:ea typeface="Calibri" pitchFamily="34" charset="-122"/>
                <a:cs typeface="Times New Roman" panose="02020603050405020304" pitchFamily="18" charset="0"/>
              </a:rPr>
              <a:t>Used everywhere from power grids and EVs to industrial automation and renewables.</a:t>
            </a:r>
            <a:endParaRPr lang="en-US" sz="1600" dirty="0">
              <a:latin typeface="Times New Roman" panose="02020603050405020304" pitchFamily="18" charset="0"/>
              <a:cs typeface="Times New Roman" panose="02020603050405020304" pitchFamily="18" charset="0"/>
            </a:endParaRPr>
          </a:p>
        </p:txBody>
      </p:sp>
      <p:sp>
        <p:nvSpPr>
          <p:cNvPr id="16" name="Text 10"/>
          <p:cNvSpPr/>
          <p:nvPr/>
        </p:nvSpPr>
        <p:spPr>
          <a:xfrm>
            <a:off x="548640" y="5852160"/>
            <a:ext cx="11064240" cy="640080"/>
          </a:xfrm>
          <a:prstGeom prst="rect">
            <a:avLst/>
          </a:prstGeom>
          <a:noFill/>
          <a:ln/>
        </p:spPr>
        <p:txBody>
          <a:bodyPr wrap="square" rtlCol="0" anchor="ctr"/>
          <a:lstStyle/>
          <a:p>
            <a:pPr marL="0" indent="0" algn="ctr">
              <a:buNone/>
            </a:pPr>
            <a:r>
              <a:rPr lang="en-US" sz="2200" b="1" dirty="0">
                <a:solidFill>
                  <a:srgbClr val="FFB627"/>
                </a:solidFill>
                <a:latin typeface="Times New Roman" panose="02020603050405020304" pitchFamily="18" charset="0"/>
                <a:ea typeface="Cambria" pitchFamily="34" charset="-122"/>
                <a:cs typeface="Times New Roman" panose="02020603050405020304" pitchFamily="18" charset="0"/>
              </a:rPr>
              <a:t>Thank You</a:t>
            </a:r>
            <a:endParaRPr lang="en-US" sz="2200" dirty="0">
              <a:latin typeface="Times New Roman" panose="02020603050405020304" pitchFamily="18" charset="0"/>
              <a:cs typeface="Times New Roman" panose="02020603050405020304" pitchFamily="18" charset="0"/>
            </a:endParaRPr>
          </a:p>
        </p:txBody>
      </p:sp>
      <p:sp>
        <p:nvSpPr>
          <p:cNvPr id="17" name="Text 11"/>
          <p:cNvSpPr/>
          <p:nvPr/>
        </p:nvSpPr>
        <p:spPr>
          <a:xfrm>
            <a:off x="457200" y="6537960"/>
            <a:ext cx="3657600" cy="274320"/>
          </a:xfrm>
          <a:prstGeom prst="rect">
            <a:avLst/>
          </a:prstGeom>
          <a:noFill/>
          <a:ln/>
        </p:spPr>
        <p:txBody>
          <a:bodyPr wrap="square" rtlCol="0" anchor="ctr"/>
          <a:lstStyle/>
          <a:p>
            <a:pPr marL="0" indent="0">
              <a:buNone/>
            </a:pPr>
            <a:r>
              <a:rPr lang="en-US" sz="900" i="1" dirty="0">
                <a:solidFill>
                  <a:srgbClr val="8FA3BF"/>
                </a:solidFill>
                <a:latin typeface="Times New Roman" panose="02020603050405020304" pitchFamily="18" charset="0"/>
                <a:ea typeface="Calibri" pitchFamily="34" charset="-122"/>
                <a:cs typeface="Times New Roman" panose="02020603050405020304" pitchFamily="18" charset="0"/>
              </a:rPr>
              <a:t>VOLTAGE SENSOR</a:t>
            </a:r>
            <a:endParaRPr lang="en-US" sz="900" dirty="0">
              <a:latin typeface="Times New Roman" panose="02020603050405020304" pitchFamily="18" charset="0"/>
              <a:cs typeface="Times New Roman" panose="02020603050405020304" pitchFamily="18" charset="0"/>
            </a:endParaRPr>
          </a:p>
        </p:txBody>
      </p:sp>
      <p:sp>
        <p:nvSpPr>
          <p:cNvPr id="18" name="Text 12"/>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8FA3BF"/>
                </a:solidFill>
                <a:latin typeface="Times New Roman" panose="02020603050405020304" pitchFamily="18" charset="0"/>
                <a:ea typeface="Calibri" pitchFamily="34" charset="-122"/>
                <a:cs typeface="Times New Roman" panose="02020603050405020304" pitchFamily="18" charset="0"/>
              </a:rPr>
              <a:t>12</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2E0485E-0EDD-D6C1-72B3-A1BD170D58C2}"/>
              </a:ext>
            </a:extLst>
          </p:cNvPr>
          <p:cNvSpPr txBox="1"/>
          <p:nvPr/>
        </p:nvSpPr>
        <p:spPr>
          <a:xfrm>
            <a:off x="1501140" y="2355580"/>
            <a:ext cx="8717280" cy="2315827"/>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A voltage sensor is a device that safely converts high or hazardous voltage into a small, measurable signal that can be read by a controller, meter, or monitoring system. This makes it possible to observe and manage electrical systems without ever making direct contact with dangerous voltage levels.</a:t>
            </a:r>
          </a:p>
          <a:p>
            <a:pPr marL="285750" indent="-285750" algn="just">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The main types — resistive dividers, Hall effect sensors, optical/isolation amplifiers, and capacitive dividers — each offer a different balance of cost, accuracy, and isolation, so the right choice depends on the voltage range and safety requirements of the application. Across all types, key specifications like accuracy, measurement range, response time, and isolation rating determine how well a sensor fits a given use case.</a:t>
            </a:r>
          </a:p>
        </p:txBody>
      </p:sp>
      <p:sp>
        <p:nvSpPr>
          <p:cNvPr id="3" name="TextBox 2">
            <a:extLst>
              <a:ext uri="{FF2B5EF4-FFF2-40B4-BE49-F238E27FC236}">
                <a16:creationId xmlns:a16="http://schemas.microsoft.com/office/drawing/2014/main" id="{7C016611-E1F4-81E7-BE2A-C594E6EA5618}"/>
              </a:ext>
            </a:extLst>
          </p:cNvPr>
          <p:cNvSpPr txBox="1"/>
          <p:nvPr/>
        </p:nvSpPr>
        <p:spPr>
          <a:xfrm>
            <a:off x="4648200" y="1341120"/>
            <a:ext cx="1585690" cy="461665"/>
          </a:xfrm>
          <a:prstGeom prst="rect">
            <a:avLst/>
          </a:prstGeom>
          <a:noFill/>
        </p:spPr>
        <p:txBody>
          <a:bodyPr wrap="none" rtlCol="0">
            <a:spAutoFit/>
          </a:bodyPr>
          <a:lstStyle/>
          <a:p>
            <a:pPr algn="ctr"/>
            <a:r>
              <a:rPr lang="en-US" sz="2400" dirty="0">
                <a:latin typeface="Times New Roman" panose="02020603050405020304" pitchFamily="18" charset="0"/>
                <a:cs typeface="Times New Roman" panose="02020603050405020304" pitchFamily="18" charset="0"/>
              </a:rPr>
              <a:t>Conclusion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13452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997</Words>
  <Application>Microsoft Office PowerPoint</Application>
  <PresentationFormat>Widescreen</PresentationFormat>
  <Paragraphs>151</Paragraphs>
  <Slides>13</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chandu Thakkellapati</cp:lastModifiedBy>
  <cp:revision>2</cp:revision>
  <dcterms:created xsi:type="dcterms:W3CDTF">2026-08-25T05:49:31Z</dcterms:created>
  <dcterms:modified xsi:type="dcterms:W3CDTF">2026-08-28T17:19:05Z</dcterms:modified>
</cp:coreProperties>
</file>